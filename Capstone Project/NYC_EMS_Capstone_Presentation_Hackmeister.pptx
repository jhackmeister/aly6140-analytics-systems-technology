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71" r:id="rId7"/>
    <p:sldId id="261" r:id="rId8"/>
    <p:sldId id="262" r:id="rId9"/>
    <p:sldId id="263" r:id="rId10"/>
    <p:sldId id="269" r:id="rId11"/>
    <p:sldId id="264" r:id="rId12"/>
    <p:sldId id="265" r:id="rId13"/>
    <p:sldId id="270" r:id="rId14"/>
    <p:sldId id="266" r:id="rId15"/>
    <p:sldId id="267" r:id="rId16"/>
    <p:sldId id="26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30FC63-D45A-46EC-BFA9-E19D92261695}" v="11" dt="2026-05-16T01:28:49.3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5860" autoAdjust="0"/>
  </p:normalViewPr>
  <p:slideViewPr>
    <p:cSldViewPr snapToGrid="0" snapToObjects="1">
      <p:cViewPr varScale="1">
        <p:scale>
          <a:sx n="96" d="100"/>
          <a:sy n="96" d="100"/>
        </p:scale>
        <p:origin x="20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Hackmeister" userId="68f37b0d588597b1" providerId="LiveId" clId="{9F1D49AA-69CD-4D0D-80D6-37491347B4F3}"/>
    <pc:docChg chg="undo redo custSel addSld modSld sldOrd">
      <pc:chgData name="Jeff Hackmeister" userId="68f37b0d588597b1" providerId="LiveId" clId="{9F1D49AA-69CD-4D0D-80D6-37491347B4F3}" dt="2026-05-16T01:33:47.306" v="649" actId="1076"/>
      <pc:docMkLst>
        <pc:docMk/>
      </pc:docMkLst>
      <pc:sldChg chg="modSp mod">
        <pc:chgData name="Jeff Hackmeister" userId="68f37b0d588597b1" providerId="LiveId" clId="{9F1D49AA-69CD-4D0D-80D6-37491347B4F3}" dt="2026-05-16T00:59:36.255" v="2" actId="207"/>
        <pc:sldMkLst>
          <pc:docMk/>
          <pc:sldMk cId="0" sldId="259"/>
        </pc:sldMkLst>
        <pc:spChg chg="mod">
          <ac:chgData name="Jeff Hackmeister" userId="68f37b0d588597b1" providerId="LiveId" clId="{9F1D49AA-69CD-4D0D-80D6-37491347B4F3}" dt="2026-05-16T00:59:32.193" v="0" actId="207"/>
          <ac:spMkLst>
            <pc:docMk/>
            <pc:sldMk cId="0" sldId="259"/>
            <ac:spMk id="7" creationId="{00000000-0000-0000-0000-000000000000}"/>
          </ac:spMkLst>
        </pc:spChg>
        <pc:spChg chg="mod">
          <ac:chgData name="Jeff Hackmeister" userId="68f37b0d588597b1" providerId="LiveId" clId="{9F1D49AA-69CD-4D0D-80D6-37491347B4F3}" dt="2026-05-16T00:59:34.294" v="1" actId="207"/>
          <ac:spMkLst>
            <pc:docMk/>
            <pc:sldMk cId="0" sldId="259"/>
            <ac:spMk id="11" creationId="{00000000-0000-0000-0000-000000000000}"/>
          </ac:spMkLst>
        </pc:spChg>
        <pc:spChg chg="mod">
          <ac:chgData name="Jeff Hackmeister" userId="68f37b0d588597b1" providerId="LiveId" clId="{9F1D49AA-69CD-4D0D-80D6-37491347B4F3}" dt="2026-05-16T00:59:36.255" v="2" actId="207"/>
          <ac:spMkLst>
            <pc:docMk/>
            <pc:sldMk cId="0" sldId="259"/>
            <ac:spMk id="15" creationId="{00000000-0000-0000-0000-000000000000}"/>
          </ac:spMkLst>
        </pc:spChg>
      </pc:sldChg>
      <pc:sldChg chg="addSp modSp mod">
        <pc:chgData name="Jeff Hackmeister" userId="68f37b0d588597b1" providerId="LiveId" clId="{9F1D49AA-69CD-4D0D-80D6-37491347B4F3}" dt="2026-05-16T01:13:09.717" v="126" actId="1076"/>
        <pc:sldMkLst>
          <pc:docMk/>
          <pc:sldMk cId="0" sldId="260"/>
        </pc:sldMkLst>
        <pc:spChg chg="mod">
          <ac:chgData name="Jeff Hackmeister" userId="68f37b0d588597b1" providerId="LiveId" clId="{9F1D49AA-69CD-4D0D-80D6-37491347B4F3}" dt="2026-05-16T01:13:09.717" v="126" actId="1076"/>
          <ac:spMkLst>
            <pc:docMk/>
            <pc:sldMk cId="0" sldId="260"/>
            <ac:spMk id="16" creationId="{00000000-0000-0000-0000-000000000000}"/>
          </ac:spMkLst>
        </pc:spChg>
        <pc:spChg chg="mod">
          <ac:chgData name="Jeff Hackmeister" userId="68f37b0d588597b1" providerId="LiveId" clId="{9F1D49AA-69CD-4D0D-80D6-37491347B4F3}" dt="2026-05-16T01:13:08.688" v="124" actId="1076"/>
          <ac:spMkLst>
            <pc:docMk/>
            <pc:sldMk cId="0" sldId="260"/>
            <ac:spMk id="17" creationId="{00000000-0000-0000-0000-000000000000}"/>
          </ac:spMkLst>
        </pc:spChg>
        <pc:spChg chg="mod">
          <ac:chgData name="Jeff Hackmeister" userId="68f37b0d588597b1" providerId="LiveId" clId="{9F1D49AA-69CD-4D0D-80D6-37491347B4F3}" dt="2026-05-16T01:13:09.219" v="125" actId="14100"/>
          <ac:spMkLst>
            <pc:docMk/>
            <pc:sldMk cId="0" sldId="260"/>
            <ac:spMk id="18" creationId="{00000000-0000-0000-0000-000000000000}"/>
          </ac:spMkLst>
        </pc:spChg>
        <pc:picChg chg="add mod">
          <ac:chgData name="Jeff Hackmeister" userId="68f37b0d588597b1" providerId="LiveId" clId="{9F1D49AA-69CD-4D0D-80D6-37491347B4F3}" dt="2026-05-16T01:13:06.924" v="122"/>
          <ac:picMkLst>
            <pc:docMk/>
            <pc:sldMk cId="0" sldId="260"/>
            <ac:picMk id="19" creationId="{2279DFBD-29FF-2F56-BE04-4A2D1D56C1B9}"/>
          </ac:picMkLst>
        </pc:picChg>
      </pc:sldChg>
      <pc:sldChg chg="addSp delSp modSp mod modNotesTx">
        <pc:chgData name="Jeff Hackmeister" userId="68f37b0d588597b1" providerId="LiveId" clId="{9F1D49AA-69CD-4D0D-80D6-37491347B4F3}" dt="2026-05-16T01:31:24.786" v="611" actId="1076"/>
        <pc:sldMkLst>
          <pc:docMk/>
          <pc:sldMk cId="0" sldId="261"/>
        </pc:sldMkLst>
        <pc:spChg chg="mod">
          <ac:chgData name="Jeff Hackmeister" userId="68f37b0d588597b1" providerId="LiveId" clId="{9F1D49AA-69CD-4D0D-80D6-37491347B4F3}" dt="2026-05-16T01:31:20.219" v="610" actId="14100"/>
          <ac:spMkLst>
            <pc:docMk/>
            <pc:sldMk cId="0" sldId="261"/>
            <ac:spMk id="5" creationId="{00000000-0000-0000-0000-000000000000}"/>
          </ac:spMkLst>
        </pc:spChg>
        <pc:spChg chg="mod">
          <ac:chgData name="Jeff Hackmeister" userId="68f37b0d588597b1" providerId="LiveId" clId="{9F1D49AA-69CD-4D0D-80D6-37491347B4F3}" dt="2026-05-16T01:31:24.786" v="611" actId="1076"/>
          <ac:spMkLst>
            <pc:docMk/>
            <pc:sldMk cId="0" sldId="261"/>
            <ac:spMk id="6" creationId="{00000000-0000-0000-0000-000000000000}"/>
          </ac:spMkLst>
        </pc:spChg>
        <pc:spChg chg="mod">
          <ac:chgData name="Jeff Hackmeister" userId="68f37b0d588597b1" providerId="LiveId" clId="{9F1D49AA-69CD-4D0D-80D6-37491347B4F3}" dt="2026-05-16T01:31:10.714" v="608" actId="20577"/>
          <ac:spMkLst>
            <pc:docMk/>
            <pc:sldMk cId="0" sldId="261"/>
            <ac:spMk id="7" creationId="{00000000-0000-0000-0000-000000000000}"/>
          </ac:spMkLst>
        </pc:spChg>
        <pc:graphicFrameChg chg="del">
          <ac:chgData name="Jeff Hackmeister" userId="68f37b0d588597b1" providerId="LiveId" clId="{9F1D49AA-69CD-4D0D-80D6-37491347B4F3}" dt="2026-05-16T01:00:10.083" v="3" actId="478"/>
          <ac:graphicFrameMkLst>
            <pc:docMk/>
            <pc:sldMk cId="0" sldId="261"/>
            <ac:graphicFrameMk id="4" creationId="{00000000-0000-0000-0000-000000000000}"/>
          </ac:graphicFrameMkLst>
        </pc:graphicFrameChg>
        <pc:picChg chg="add mod">
          <ac:chgData name="Jeff Hackmeister" userId="68f37b0d588597b1" providerId="LiveId" clId="{9F1D49AA-69CD-4D0D-80D6-37491347B4F3}" dt="2026-05-16T01:01:35.824" v="10" actId="14861"/>
          <ac:picMkLst>
            <pc:docMk/>
            <pc:sldMk cId="0" sldId="261"/>
            <ac:picMk id="9" creationId="{FDE46700-5D3B-C999-352A-381CFD35FD4D}"/>
          </ac:picMkLst>
        </pc:picChg>
      </pc:sldChg>
      <pc:sldChg chg="addSp delSp modSp mod modNotesTx">
        <pc:chgData name="Jeff Hackmeister" userId="68f37b0d588597b1" providerId="LiveId" clId="{9F1D49AA-69CD-4D0D-80D6-37491347B4F3}" dt="2026-05-16T01:32:56.947" v="648" actId="20577"/>
        <pc:sldMkLst>
          <pc:docMk/>
          <pc:sldMk cId="0" sldId="262"/>
        </pc:sldMkLst>
        <pc:graphicFrameChg chg="del">
          <ac:chgData name="Jeff Hackmeister" userId="68f37b0d588597b1" providerId="LiveId" clId="{9F1D49AA-69CD-4D0D-80D6-37491347B4F3}" dt="2026-05-16T01:11:25.049" v="97" actId="478"/>
          <ac:graphicFrameMkLst>
            <pc:docMk/>
            <pc:sldMk cId="0" sldId="262"/>
            <ac:graphicFrameMk id="4" creationId="{00000000-0000-0000-0000-000000000000}"/>
          </ac:graphicFrameMkLst>
        </pc:graphicFrameChg>
        <pc:picChg chg="add mod">
          <ac:chgData name="Jeff Hackmeister" userId="68f37b0d588597b1" providerId="LiveId" clId="{9F1D49AA-69CD-4D0D-80D6-37491347B4F3}" dt="2026-05-16T01:13:14.159" v="128" actId="108"/>
          <ac:picMkLst>
            <pc:docMk/>
            <pc:sldMk cId="0" sldId="262"/>
            <ac:picMk id="12" creationId="{95A23A8C-1F17-D33C-A9E8-463E8D989DC8}"/>
          </ac:picMkLst>
        </pc:picChg>
      </pc:sldChg>
      <pc:sldChg chg="addSp delSp modSp mod">
        <pc:chgData name="Jeff Hackmeister" userId="68f37b0d588597b1" providerId="LiveId" clId="{9F1D49AA-69CD-4D0D-80D6-37491347B4F3}" dt="2026-05-16T01:07:20.962" v="57" actId="108"/>
        <pc:sldMkLst>
          <pc:docMk/>
          <pc:sldMk cId="0" sldId="264"/>
        </pc:sldMkLst>
        <pc:spChg chg="del mod">
          <ac:chgData name="Jeff Hackmeister" userId="68f37b0d588597b1" providerId="LiveId" clId="{9F1D49AA-69CD-4D0D-80D6-37491347B4F3}" dt="2026-05-16T01:06:27.374" v="43" actId="478"/>
          <ac:spMkLst>
            <pc:docMk/>
            <pc:sldMk cId="0" sldId="264"/>
            <ac:spMk id="4" creationId="{00000000-0000-0000-0000-000000000000}"/>
          </ac:spMkLst>
        </pc:spChg>
        <pc:spChg chg="del mod">
          <ac:chgData name="Jeff Hackmeister" userId="68f37b0d588597b1" providerId="LiveId" clId="{9F1D49AA-69CD-4D0D-80D6-37491347B4F3}" dt="2026-05-16T01:06:36.423" v="46" actId="21"/>
          <ac:spMkLst>
            <pc:docMk/>
            <pc:sldMk cId="0" sldId="264"/>
            <ac:spMk id="5" creationId="{00000000-0000-0000-0000-000000000000}"/>
          </ac:spMkLst>
        </pc:spChg>
        <pc:spChg chg="del">
          <ac:chgData name="Jeff Hackmeister" userId="68f37b0d588597b1" providerId="LiveId" clId="{9F1D49AA-69CD-4D0D-80D6-37491347B4F3}" dt="2026-05-16T01:06:29.426" v="44" actId="478"/>
          <ac:spMkLst>
            <pc:docMk/>
            <pc:sldMk cId="0" sldId="264"/>
            <ac:spMk id="6" creationId="{00000000-0000-0000-0000-000000000000}"/>
          </ac:spMkLst>
        </pc:spChg>
        <pc:spChg chg="mod">
          <ac:chgData name="Jeff Hackmeister" userId="68f37b0d588597b1" providerId="LiveId" clId="{9F1D49AA-69CD-4D0D-80D6-37491347B4F3}" dt="2026-05-16T01:07:06.966" v="52" actId="14100"/>
          <ac:spMkLst>
            <pc:docMk/>
            <pc:sldMk cId="0" sldId="264"/>
            <ac:spMk id="7" creationId="{00000000-0000-0000-0000-000000000000}"/>
          </ac:spMkLst>
        </pc:spChg>
        <pc:spChg chg="mod">
          <ac:chgData name="Jeff Hackmeister" userId="68f37b0d588597b1" providerId="LiveId" clId="{9F1D49AA-69CD-4D0D-80D6-37491347B4F3}" dt="2026-05-16T01:06:42.503" v="47" actId="1076"/>
          <ac:spMkLst>
            <pc:docMk/>
            <pc:sldMk cId="0" sldId="264"/>
            <ac:spMk id="8" creationId="{00000000-0000-0000-0000-000000000000}"/>
          </ac:spMkLst>
        </pc:spChg>
        <pc:spChg chg="mod">
          <ac:chgData name="Jeff Hackmeister" userId="68f37b0d588597b1" providerId="LiveId" clId="{9F1D49AA-69CD-4D0D-80D6-37491347B4F3}" dt="2026-05-16T01:07:00.301" v="51" actId="1076"/>
          <ac:spMkLst>
            <pc:docMk/>
            <pc:sldMk cId="0" sldId="264"/>
            <ac:spMk id="9" creationId="{00000000-0000-0000-0000-000000000000}"/>
          </ac:spMkLst>
        </pc:spChg>
        <pc:picChg chg="add mod">
          <ac:chgData name="Jeff Hackmeister" userId="68f37b0d588597b1" providerId="LiveId" clId="{9F1D49AA-69CD-4D0D-80D6-37491347B4F3}" dt="2026-05-16T01:07:20.962" v="57" actId="108"/>
          <ac:picMkLst>
            <pc:docMk/>
            <pc:sldMk cId="0" sldId="264"/>
            <ac:picMk id="11" creationId="{EF458D0E-8F21-8701-D7D8-1324BB1355D8}"/>
          </ac:picMkLst>
        </pc:picChg>
      </pc:sldChg>
      <pc:sldChg chg="addSp delSp modSp mod">
        <pc:chgData name="Jeff Hackmeister" userId="68f37b0d588597b1" providerId="LiveId" clId="{9F1D49AA-69CD-4D0D-80D6-37491347B4F3}" dt="2026-05-16T01:10:50.131" v="96" actId="1076"/>
        <pc:sldMkLst>
          <pc:docMk/>
          <pc:sldMk cId="0" sldId="265"/>
        </pc:sldMkLst>
        <pc:spChg chg="del">
          <ac:chgData name="Jeff Hackmeister" userId="68f37b0d588597b1" providerId="LiveId" clId="{9F1D49AA-69CD-4D0D-80D6-37491347B4F3}" dt="2026-05-16T01:08:47.637" v="70" actId="478"/>
          <ac:spMkLst>
            <pc:docMk/>
            <pc:sldMk cId="0" sldId="265"/>
            <ac:spMk id="4" creationId="{00000000-0000-0000-0000-000000000000}"/>
          </ac:spMkLst>
        </pc:spChg>
        <pc:spChg chg="del">
          <ac:chgData name="Jeff Hackmeister" userId="68f37b0d588597b1" providerId="LiveId" clId="{9F1D49AA-69CD-4D0D-80D6-37491347B4F3}" dt="2026-05-16T01:08:47.637" v="70" actId="478"/>
          <ac:spMkLst>
            <pc:docMk/>
            <pc:sldMk cId="0" sldId="265"/>
            <ac:spMk id="5" creationId="{00000000-0000-0000-0000-000000000000}"/>
          </ac:spMkLst>
        </pc:spChg>
        <pc:spChg chg="del">
          <ac:chgData name="Jeff Hackmeister" userId="68f37b0d588597b1" providerId="LiveId" clId="{9F1D49AA-69CD-4D0D-80D6-37491347B4F3}" dt="2026-05-16T01:08:47.637" v="70" actId="478"/>
          <ac:spMkLst>
            <pc:docMk/>
            <pc:sldMk cId="0" sldId="265"/>
            <ac:spMk id="6" creationId="{00000000-0000-0000-0000-000000000000}"/>
          </ac:spMkLst>
        </pc:spChg>
        <pc:spChg chg="mod">
          <ac:chgData name="Jeff Hackmeister" userId="68f37b0d588597b1" providerId="LiveId" clId="{9F1D49AA-69CD-4D0D-80D6-37491347B4F3}" dt="2026-05-16T01:09:37.569" v="80" actId="14100"/>
          <ac:spMkLst>
            <pc:docMk/>
            <pc:sldMk cId="0" sldId="265"/>
            <ac:spMk id="7" creationId="{00000000-0000-0000-0000-000000000000}"/>
          </ac:spMkLst>
        </pc:spChg>
        <pc:spChg chg="mod">
          <ac:chgData name="Jeff Hackmeister" userId="68f37b0d588597b1" providerId="LiveId" clId="{9F1D49AA-69CD-4D0D-80D6-37491347B4F3}" dt="2026-05-16T01:08:56.544" v="71" actId="1076"/>
          <ac:spMkLst>
            <pc:docMk/>
            <pc:sldMk cId="0" sldId="265"/>
            <ac:spMk id="8" creationId="{00000000-0000-0000-0000-000000000000}"/>
          </ac:spMkLst>
        </pc:spChg>
        <pc:spChg chg="mod">
          <ac:chgData name="Jeff Hackmeister" userId="68f37b0d588597b1" providerId="LiveId" clId="{9F1D49AA-69CD-4D0D-80D6-37491347B4F3}" dt="2026-05-16T01:09:34.461" v="79" actId="1076"/>
          <ac:spMkLst>
            <pc:docMk/>
            <pc:sldMk cId="0" sldId="265"/>
            <ac:spMk id="9" creationId="{00000000-0000-0000-0000-000000000000}"/>
          </ac:spMkLst>
        </pc:spChg>
        <pc:spChg chg="del">
          <ac:chgData name="Jeff Hackmeister" userId="68f37b0d588597b1" providerId="LiveId" clId="{9F1D49AA-69CD-4D0D-80D6-37491347B4F3}" dt="2026-05-16T01:08:47.637" v="70" actId="478"/>
          <ac:spMkLst>
            <pc:docMk/>
            <pc:sldMk cId="0" sldId="265"/>
            <ac:spMk id="10" creationId="{00000000-0000-0000-0000-000000000000}"/>
          </ac:spMkLst>
        </pc:spChg>
        <pc:spChg chg="del">
          <ac:chgData name="Jeff Hackmeister" userId="68f37b0d588597b1" providerId="LiveId" clId="{9F1D49AA-69CD-4D0D-80D6-37491347B4F3}" dt="2026-05-16T01:08:47.637" v="70" actId="478"/>
          <ac:spMkLst>
            <pc:docMk/>
            <pc:sldMk cId="0" sldId="265"/>
            <ac:spMk id="11" creationId="{00000000-0000-0000-0000-000000000000}"/>
          </ac:spMkLst>
        </pc:spChg>
        <pc:spChg chg="del">
          <ac:chgData name="Jeff Hackmeister" userId="68f37b0d588597b1" providerId="LiveId" clId="{9F1D49AA-69CD-4D0D-80D6-37491347B4F3}" dt="2026-05-16T01:08:47.637" v="70" actId="478"/>
          <ac:spMkLst>
            <pc:docMk/>
            <pc:sldMk cId="0" sldId="265"/>
            <ac:spMk id="12" creationId="{00000000-0000-0000-0000-000000000000}"/>
          </ac:spMkLst>
        </pc:spChg>
        <pc:spChg chg="mod">
          <ac:chgData name="Jeff Hackmeister" userId="68f37b0d588597b1" providerId="LiveId" clId="{9F1D49AA-69CD-4D0D-80D6-37491347B4F3}" dt="2026-05-16T01:09:49.906" v="83" actId="1076"/>
          <ac:spMkLst>
            <pc:docMk/>
            <pc:sldMk cId="0" sldId="265"/>
            <ac:spMk id="13" creationId="{00000000-0000-0000-0000-000000000000}"/>
          </ac:spMkLst>
        </pc:spChg>
        <pc:spChg chg="mod">
          <ac:chgData name="Jeff Hackmeister" userId="68f37b0d588597b1" providerId="LiveId" clId="{9F1D49AA-69CD-4D0D-80D6-37491347B4F3}" dt="2026-05-16T01:09:54.173" v="84" actId="1076"/>
          <ac:spMkLst>
            <pc:docMk/>
            <pc:sldMk cId="0" sldId="265"/>
            <ac:spMk id="14" creationId="{00000000-0000-0000-0000-000000000000}"/>
          </ac:spMkLst>
        </pc:spChg>
        <pc:spChg chg="mod">
          <ac:chgData name="Jeff Hackmeister" userId="68f37b0d588597b1" providerId="LiveId" clId="{9F1D49AA-69CD-4D0D-80D6-37491347B4F3}" dt="2026-05-16T01:10:41.825" v="95" actId="14100"/>
          <ac:spMkLst>
            <pc:docMk/>
            <pc:sldMk cId="0" sldId="265"/>
            <ac:spMk id="15" creationId="{00000000-0000-0000-0000-000000000000}"/>
          </ac:spMkLst>
        </pc:spChg>
        <pc:picChg chg="add mod">
          <ac:chgData name="Jeff Hackmeister" userId="68f37b0d588597b1" providerId="LiveId" clId="{9F1D49AA-69CD-4D0D-80D6-37491347B4F3}" dt="2026-05-16T01:10:50.131" v="96" actId="1076"/>
          <ac:picMkLst>
            <pc:docMk/>
            <pc:sldMk cId="0" sldId="265"/>
            <ac:picMk id="17" creationId="{DF3F2369-7049-5414-9349-E49DAF956A76}"/>
          </ac:picMkLst>
        </pc:picChg>
      </pc:sldChg>
      <pc:sldChg chg="modSp mod">
        <pc:chgData name="Jeff Hackmeister" userId="68f37b0d588597b1" providerId="LiveId" clId="{9F1D49AA-69CD-4D0D-80D6-37491347B4F3}" dt="2026-05-16T01:03:17.435" v="15" actId="207"/>
        <pc:sldMkLst>
          <pc:docMk/>
          <pc:sldMk cId="0" sldId="267"/>
        </pc:sldMkLst>
        <pc:spChg chg="mod">
          <ac:chgData name="Jeff Hackmeister" userId="68f37b0d588597b1" providerId="LiveId" clId="{9F1D49AA-69CD-4D0D-80D6-37491347B4F3}" dt="2026-05-16T01:03:13.212" v="14" actId="207"/>
          <ac:spMkLst>
            <pc:docMk/>
            <pc:sldMk cId="0" sldId="267"/>
            <ac:spMk id="6" creationId="{00000000-0000-0000-0000-000000000000}"/>
          </ac:spMkLst>
        </pc:spChg>
        <pc:spChg chg="mod">
          <ac:chgData name="Jeff Hackmeister" userId="68f37b0d588597b1" providerId="LiveId" clId="{9F1D49AA-69CD-4D0D-80D6-37491347B4F3}" dt="2026-05-16T01:03:17.435" v="15" actId="207"/>
          <ac:spMkLst>
            <pc:docMk/>
            <pc:sldMk cId="0" sldId="267"/>
            <ac:spMk id="9" creationId="{00000000-0000-0000-0000-000000000000}"/>
          </ac:spMkLst>
        </pc:spChg>
      </pc:sldChg>
      <pc:sldChg chg="addSp delSp modSp add mod ord">
        <pc:chgData name="Jeff Hackmeister" userId="68f37b0d588597b1" providerId="LiveId" clId="{9F1D49AA-69CD-4D0D-80D6-37491347B4F3}" dt="2026-05-16T01:33:47.306" v="649" actId="1076"/>
        <pc:sldMkLst>
          <pc:docMk/>
          <pc:sldMk cId="1091613357" sldId="269"/>
        </pc:sldMkLst>
        <pc:spChg chg="mod">
          <ac:chgData name="Jeff Hackmeister" userId="68f37b0d588597b1" providerId="LiveId" clId="{9F1D49AA-69CD-4D0D-80D6-37491347B4F3}" dt="2026-05-16T01:05:57.778" v="36" actId="1076"/>
          <ac:spMkLst>
            <pc:docMk/>
            <pc:sldMk cId="1091613357" sldId="269"/>
            <ac:spMk id="4" creationId="{A9B88A18-06A6-56D9-A219-71BE07A90D23}"/>
          </ac:spMkLst>
        </pc:spChg>
        <pc:spChg chg="mod">
          <ac:chgData name="Jeff Hackmeister" userId="68f37b0d588597b1" providerId="LiveId" clId="{9F1D49AA-69CD-4D0D-80D6-37491347B4F3}" dt="2026-05-16T01:06:02.831" v="37" actId="1076"/>
          <ac:spMkLst>
            <pc:docMk/>
            <pc:sldMk cId="1091613357" sldId="269"/>
            <ac:spMk id="6" creationId="{23398C3F-637C-2E97-84E8-D4005B1B0D85}"/>
          </ac:spMkLst>
        </pc:spChg>
        <pc:spChg chg="del">
          <ac:chgData name="Jeff Hackmeister" userId="68f37b0d588597b1" providerId="LiveId" clId="{9F1D49AA-69CD-4D0D-80D6-37491347B4F3}" dt="2026-05-16T01:05:02.263" v="19" actId="21"/>
          <ac:spMkLst>
            <pc:docMk/>
            <pc:sldMk cId="1091613357" sldId="269"/>
            <ac:spMk id="7" creationId="{571F8A92-1E5C-7B92-5187-52E5D76F53A7}"/>
          </ac:spMkLst>
        </pc:spChg>
        <pc:spChg chg="del">
          <ac:chgData name="Jeff Hackmeister" userId="68f37b0d588597b1" providerId="LiveId" clId="{9F1D49AA-69CD-4D0D-80D6-37491347B4F3}" dt="2026-05-16T01:05:09.451" v="21" actId="21"/>
          <ac:spMkLst>
            <pc:docMk/>
            <pc:sldMk cId="1091613357" sldId="269"/>
            <ac:spMk id="8" creationId="{570B8D6F-CA1E-F67A-55BE-D457C635D043}"/>
          </ac:spMkLst>
        </pc:spChg>
        <pc:spChg chg="del">
          <ac:chgData name="Jeff Hackmeister" userId="68f37b0d588597b1" providerId="LiveId" clId="{9F1D49AA-69CD-4D0D-80D6-37491347B4F3}" dt="2026-05-16T01:05:06.944" v="20" actId="21"/>
          <ac:spMkLst>
            <pc:docMk/>
            <pc:sldMk cId="1091613357" sldId="269"/>
            <ac:spMk id="9" creationId="{37F64751-E7C5-3101-8BA5-87B7DE6F54FE}"/>
          </ac:spMkLst>
        </pc:spChg>
        <pc:picChg chg="add mod">
          <ac:chgData name="Jeff Hackmeister" userId="68f37b0d588597b1" providerId="LiveId" clId="{9F1D49AA-69CD-4D0D-80D6-37491347B4F3}" dt="2026-05-16T01:33:47.306" v="649" actId="1076"/>
          <ac:picMkLst>
            <pc:docMk/>
            <pc:sldMk cId="1091613357" sldId="269"/>
            <ac:picMk id="10" creationId="{006CA035-1BFA-6D0B-C94E-9FCBD64C1443}"/>
          </ac:picMkLst>
        </pc:picChg>
      </pc:sldChg>
      <pc:sldChg chg="addSp delSp modSp add mod">
        <pc:chgData name="Jeff Hackmeister" userId="68f37b0d588597b1" providerId="LiveId" clId="{9F1D49AA-69CD-4D0D-80D6-37491347B4F3}" dt="2026-05-16T01:08:38.558" v="69" actId="108"/>
        <pc:sldMkLst>
          <pc:docMk/>
          <pc:sldMk cId="609204472" sldId="270"/>
        </pc:sldMkLst>
        <pc:spChg chg="mod">
          <ac:chgData name="Jeff Hackmeister" userId="68f37b0d588597b1" providerId="LiveId" clId="{9F1D49AA-69CD-4D0D-80D6-37491347B4F3}" dt="2026-05-16T01:08:32.458" v="68" actId="14100"/>
          <ac:spMkLst>
            <pc:docMk/>
            <pc:sldMk cId="609204472" sldId="270"/>
            <ac:spMk id="4" creationId="{65216475-BFF3-7202-0C08-99FB5A9C6836}"/>
          </ac:spMkLst>
        </pc:spChg>
        <pc:spChg chg="del">
          <ac:chgData name="Jeff Hackmeister" userId="68f37b0d588597b1" providerId="LiveId" clId="{9F1D49AA-69CD-4D0D-80D6-37491347B4F3}" dt="2026-05-16T01:08:01.235" v="60" actId="478"/>
          <ac:spMkLst>
            <pc:docMk/>
            <pc:sldMk cId="609204472" sldId="270"/>
            <ac:spMk id="7" creationId="{158AA58F-2298-0B28-C4A4-20BED9417CF0}"/>
          </ac:spMkLst>
        </pc:spChg>
        <pc:spChg chg="del">
          <ac:chgData name="Jeff Hackmeister" userId="68f37b0d588597b1" providerId="LiveId" clId="{9F1D49AA-69CD-4D0D-80D6-37491347B4F3}" dt="2026-05-16T01:08:01.235" v="60" actId="478"/>
          <ac:spMkLst>
            <pc:docMk/>
            <pc:sldMk cId="609204472" sldId="270"/>
            <ac:spMk id="8" creationId="{456AA0AE-8D33-2D8A-29C2-3124B901DE0D}"/>
          </ac:spMkLst>
        </pc:spChg>
        <pc:spChg chg="del">
          <ac:chgData name="Jeff Hackmeister" userId="68f37b0d588597b1" providerId="LiveId" clId="{9F1D49AA-69CD-4D0D-80D6-37491347B4F3}" dt="2026-05-16T01:07:57.848" v="59" actId="478"/>
          <ac:spMkLst>
            <pc:docMk/>
            <pc:sldMk cId="609204472" sldId="270"/>
            <ac:spMk id="9" creationId="{70A5E8F1-FD59-E162-AA22-F02CA76C3E39}"/>
          </ac:spMkLst>
        </pc:spChg>
        <pc:spChg chg="mod">
          <ac:chgData name="Jeff Hackmeister" userId="68f37b0d588597b1" providerId="LiveId" clId="{9F1D49AA-69CD-4D0D-80D6-37491347B4F3}" dt="2026-05-16T01:08:06.235" v="61" actId="14100"/>
          <ac:spMkLst>
            <pc:docMk/>
            <pc:sldMk cId="609204472" sldId="270"/>
            <ac:spMk id="10" creationId="{CF887D3C-8763-31EE-F6E3-93E2D12F88E8}"/>
          </ac:spMkLst>
        </pc:spChg>
        <pc:spChg chg="mod">
          <ac:chgData name="Jeff Hackmeister" userId="68f37b0d588597b1" providerId="LiveId" clId="{9F1D49AA-69CD-4D0D-80D6-37491347B4F3}" dt="2026-05-16T01:08:12.173" v="62" actId="1076"/>
          <ac:spMkLst>
            <pc:docMk/>
            <pc:sldMk cId="609204472" sldId="270"/>
            <ac:spMk id="12" creationId="{F00CC090-FF61-B03F-CA61-D2BA8BC57811}"/>
          </ac:spMkLst>
        </pc:spChg>
        <pc:spChg chg="del">
          <ac:chgData name="Jeff Hackmeister" userId="68f37b0d588597b1" providerId="LiveId" clId="{9F1D49AA-69CD-4D0D-80D6-37491347B4F3}" dt="2026-05-16T01:07:57.848" v="59" actId="478"/>
          <ac:spMkLst>
            <pc:docMk/>
            <pc:sldMk cId="609204472" sldId="270"/>
            <ac:spMk id="13" creationId="{B5D96E0A-B787-5DE6-3CC6-0C100C8EB3FF}"/>
          </ac:spMkLst>
        </pc:spChg>
        <pc:spChg chg="del">
          <ac:chgData name="Jeff Hackmeister" userId="68f37b0d588597b1" providerId="LiveId" clId="{9F1D49AA-69CD-4D0D-80D6-37491347B4F3}" dt="2026-05-16T01:07:57.848" v="59" actId="478"/>
          <ac:spMkLst>
            <pc:docMk/>
            <pc:sldMk cId="609204472" sldId="270"/>
            <ac:spMk id="14" creationId="{75EF6FD3-6F9B-EC75-295E-DD994282D406}"/>
          </ac:spMkLst>
        </pc:spChg>
        <pc:spChg chg="del">
          <ac:chgData name="Jeff Hackmeister" userId="68f37b0d588597b1" providerId="LiveId" clId="{9F1D49AA-69CD-4D0D-80D6-37491347B4F3}" dt="2026-05-16T01:07:57.848" v="59" actId="478"/>
          <ac:spMkLst>
            <pc:docMk/>
            <pc:sldMk cId="609204472" sldId="270"/>
            <ac:spMk id="15" creationId="{59365BBC-E552-419F-F49F-55EDDFC0698D}"/>
          </ac:spMkLst>
        </pc:spChg>
        <pc:picChg chg="add mod">
          <ac:chgData name="Jeff Hackmeister" userId="68f37b0d588597b1" providerId="LiveId" clId="{9F1D49AA-69CD-4D0D-80D6-37491347B4F3}" dt="2026-05-16T01:08:38.558" v="69" actId="108"/>
          <ac:picMkLst>
            <pc:docMk/>
            <pc:sldMk cId="609204472" sldId="270"/>
            <ac:picMk id="16" creationId="{D9FEF536-7383-652A-6C61-84C31799E4A1}"/>
          </ac:picMkLst>
        </pc:picChg>
      </pc:sldChg>
      <pc:sldChg chg="addSp delSp modSp add mod">
        <pc:chgData name="Jeff Hackmeister" userId="68f37b0d588597b1" providerId="LiveId" clId="{9F1D49AA-69CD-4D0D-80D6-37491347B4F3}" dt="2026-05-16T01:29:56.885" v="449" actId="108"/>
        <pc:sldMkLst>
          <pc:docMk/>
          <pc:sldMk cId="2385734357" sldId="271"/>
        </pc:sldMkLst>
        <pc:spChg chg="add mod">
          <ac:chgData name="Jeff Hackmeister" userId="68f37b0d588597b1" providerId="LiveId" clId="{9F1D49AA-69CD-4D0D-80D6-37491347B4F3}" dt="2026-05-16T01:29:31.090" v="423" actId="1076"/>
          <ac:spMkLst>
            <pc:docMk/>
            <pc:sldMk cId="2385734357" sldId="271"/>
            <ac:spMk id="4" creationId="{6E16C9BC-2087-BE24-6F01-42639DDF0C11}"/>
          </ac:spMkLst>
        </pc:spChg>
        <pc:spChg chg="del">
          <ac:chgData name="Jeff Hackmeister" userId="68f37b0d588597b1" providerId="LiveId" clId="{9F1D49AA-69CD-4D0D-80D6-37491347B4F3}" dt="2026-05-16T01:13:30.834" v="130" actId="478"/>
          <ac:spMkLst>
            <pc:docMk/>
            <pc:sldMk cId="2385734357" sldId="271"/>
            <ac:spMk id="4" creationId="{70EAF34E-88EF-F1FD-F5A0-0909E7727FF8}"/>
          </ac:spMkLst>
        </pc:spChg>
        <pc:spChg chg="del">
          <ac:chgData name="Jeff Hackmeister" userId="68f37b0d588597b1" providerId="LiveId" clId="{9F1D49AA-69CD-4D0D-80D6-37491347B4F3}" dt="2026-05-16T01:13:30.834" v="130" actId="478"/>
          <ac:spMkLst>
            <pc:docMk/>
            <pc:sldMk cId="2385734357" sldId="271"/>
            <ac:spMk id="5" creationId="{88CBFB40-5B8D-27EF-76AE-5958F58D0173}"/>
          </ac:spMkLst>
        </pc:spChg>
        <pc:spChg chg="add mod">
          <ac:chgData name="Jeff Hackmeister" userId="68f37b0d588597b1" providerId="LiveId" clId="{9F1D49AA-69CD-4D0D-80D6-37491347B4F3}" dt="2026-05-16T01:29:28.973" v="422" actId="1076"/>
          <ac:spMkLst>
            <pc:docMk/>
            <pc:sldMk cId="2385734357" sldId="271"/>
            <ac:spMk id="5" creationId="{E64ECB53-F6EE-0362-91A4-7584D9995CB2}"/>
          </ac:spMkLst>
        </pc:spChg>
        <pc:spChg chg="add mod">
          <ac:chgData name="Jeff Hackmeister" userId="68f37b0d588597b1" providerId="LiveId" clId="{9F1D49AA-69CD-4D0D-80D6-37491347B4F3}" dt="2026-05-16T01:29:36.840" v="424" actId="1076"/>
          <ac:spMkLst>
            <pc:docMk/>
            <pc:sldMk cId="2385734357" sldId="271"/>
            <ac:spMk id="6" creationId="{FBF599F0-EFA8-E8A4-63F8-A243A0A9C3B8}"/>
          </ac:spMkLst>
        </pc:spChg>
        <pc:spChg chg="del">
          <ac:chgData name="Jeff Hackmeister" userId="68f37b0d588597b1" providerId="LiveId" clId="{9F1D49AA-69CD-4D0D-80D6-37491347B4F3}" dt="2026-05-16T01:13:30.834" v="130" actId="478"/>
          <ac:spMkLst>
            <pc:docMk/>
            <pc:sldMk cId="2385734357" sldId="271"/>
            <ac:spMk id="8" creationId="{A7602C8B-8C34-6A0F-BBB1-11CCFD991F58}"/>
          </ac:spMkLst>
        </pc:spChg>
        <pc:spChg chg="del">
          <ac:chgData name="Jeff Hackmeister" userId="68f37b0d588597b1" providerId="LiveId" clId="{9F1D49AA-69CD-4D0D-80D6-37491347B4F3}" dt="2026-05-16T01:13:30.834" v="130" actId="478"/>
          <ac:spMkLst>
            <pc:docMk/>
            <pc:sldMk cId="2385734357" sldId="271"/>
            <ac:spMk id="9" creationId="{29EC455A-D39B-AECA-89EC-0490104FBB56}"/>
          </ac:spMkLst>
        </pc:spChg>
        <pc:spChg chg="del">
          <ac:chgData name="Jeff Hackmeister" userId="68f37b0d588597b1" providerId="LiveId" clId="{9F1D49AA-69CD-4D0D-80D6-37491347B4F3}" dt="2026-05-16T01:13:30.834" v="130" actId="478"/>
          <ac:spMkLst>
            <pc:docMk/>
            <pc:sldMk cId="2385734357" sldId="271"/>
            <ac:spMk id="11" creationId="{CC39EE98-4966-0088-4F21-55715C7A257C}"/>
          </ac:spMkLst>
        </pc:spChg>
        <pc:spChg chg="del">
          <ac:chgData name="Jeff Hackmeister" userId="68f37b0d588597b1" providerId="LiveId" clId="{9F1D49AA-69CD-4D0D-80D6-37491347B4F3}" dt="2026-05-16T01:13:30.834" v="130" actId="478"/>
          <ac:spMkLst>
            <pc:docMk/>
            <pc:sldMk cId="2385734357" sldId="271"/>
            <ac:spMk id="12" creationId="{772FC701-BB4D-D6CE-2D25-E7617BF55D87}"/>
          </ac:spMkLst>
        </pc:spChg>
        <pc:spChg chg="del">
          <ac:chgData name="Jeff Hackmeister" userId="68f37b0d588597b1" providerId="LiveId" clId="{9F1D49AA-69CD-4D0D-80D6-37491347B4F3}" dt="2026-05-16T01:13:30.834" v="130" actId="478"/>
          <ac:spMkLst>
            <pc:docMk/>
            <pc:sldMk cId="2385734357" sldId="271"/>
            <ac:spMk id="13" creationId="{9852F28E-3567-7C35-451C-8B9EE3584DAC}"/>
          </ac:spMkLst>
        </pc:spChg>
        <pc:spChg chg="del">
          <ac:chgData name="Jeff Hackmeister" userId="68f37b0d588597b1" providerId="LiveId" clId="{9F1D49AA-69CD-4D0D-80D6-37491347B4F3}" dt="2026-05-16T01:13:30.834" v="130" actId="478"/>
          <ac:spMkLst>
            <pc:docMk/>
            <pc:sldMk cId="2385734357" sldId="271"/>
            <ac:spMk id="14" creationId="{1A77CED8-71AA-168B-F075-0BA383D66F3C}"/>
          </ac:spMkLst>
        </pc:spChg>
        <pc:spChg chg="del">
          <ac:chgData name="Jeff Hackmeister" userId="68f37b0d588597b1" providerId="LiveId" clId="{9F1D49AA-69CD-4D0D-80D6-37491347B4F3}" dt="2026-05-16T01:13:30.834" v="130" actId="478"/>
          <ac:spMkLst>
            <pc:docMk/>
            <pc:sldMk cId="2385734357" sldId="271"/>
            <ac:spMk id="16" creationId="{673E2C9C-B804-E62B-4E6A-FEDDC32440BD}"/>
          </ac:spMkLst>
        </pc:spChg>
        <pc:spChg chg="del">
          <ac:chgData name="Jeff Hackmeister" userId="68f37b0d588597b1" providerId="LiveId" clId="{9F1D49AA-69CD-4D0D-80D6-37491347B4F3}" dt="2026-05-16T01:13:30.834" v="130" actId="478"/>
          <ac:spMkLst>
            <pc:docMk/>
            <pc:sldMk cId="2385734357" sldId="271"/>
            <ac:spMk id="17" creationId="{1FFFC9EA-4BB6-3E6E-12B3-EFFB75FCC897}"/>
          </ac:spMkLst>
        </pc:spChg>
        <pc:spChg chg="add mod">
          <ac:chgData name="Jeff Hackmeister" userId="68f37b0d588597b1" providerId="LiveId" clId="{9F1D49AA-69CD-4D0D-80D6-37491347B4F3}" dt="2026-05-16T01:27:33.919" v="395" actId="14100"/>
          <ac:spMkLst>
            <pc:docMk/>
            <pc:sldMk cId="2385734357" sldId="271"/>
            <ac:spMk id="21" creationId="{599909B6-2A26-7FE6-F824-CC97F06679BF}"/>
          </ac:spMkLst>
        </pc:spChg>
        <pc:spChg chg="add mod">
          <ac:chgData name="Jeff Hackmeister" userId="68f37b0d588597b1" providerId="LiveId" clId="{9F1D49AA-69CD-4D0D-80D6-37491347B4F3}" dt="2026-05-16T01:27:39.856" v="396" actId="1076"/>
          <ac:spMkLst>
            <pc:docMk/>
            <pc:sldMk cId="2385734357" sldId="271"/>
            <ac:spMk id="22" creationId="{559D5EF4-B44F-CBAF-AA18-1E0053D8F8B5}"/>
          </ac:spMkLst>
        </pc:spChg>
        <pc:spChg chg="add del mod">
          <ac:chgData name="Jeff Hackmeister" userId="68f37b0d588597b1" providerId="LiveId" clId="{9F1D49AA-69CD-4D0D-80D6-37491347B4F3}" dt="2026-05-16T01:17:27.642" v="249" actId="21"/>
          <ac:spMkLst>
            <pc:docMk/>
            <pc:sldMk cId="2385734357" sldId="271"/>
            <ac:spMk id="23" creationId="{FB6B8111-DF55-584E-5207-183F10D7B253}"/>
          </ac:spMkLst>
        </pc:spChg>
        <pc:spChg chg="add mod ord">
          <ac:chgData name="Jeff Hackmeister" userId="68f37b0d588597b1" providerId="LiveId" clId="{9F1D49AA-69CD-4D0D-80D6-37491347B4F3}" dt="2026-05-16T01:29:48.917" v="447" actId="1035"/>
          <ac:spMkLst>
            <pc:docMk/>
            <pc:sldMk cId="2385734357" sldId="271"/>
            <ac:spMk id="24" creationId="{23D0DA5A-38CB-948E-DFA1-2A16DD817E96}"/>
          </ac:spMkLst>
        </pc:spChg>
        <pc:spChg chg="add mod">
          <ac:chgData name="Jeff Hackmeister" userId="68f37b0d588597b1" providerId="LiveId" clId="{9F1D49AA-69CD-4D0D-80D6-37491347B4F3}" dt="2026-05-16T01:29:48.917" v="447" actId="1035"/>
          <ac:spMkLst>
            <pc:docMk/>
            <pc:sldMk cId="2385734357" sldId="271"/>
            <ac:spMk id="25" creationId="{93E6887E-6A5F-3BAA-0086-8A762BB550CB}"/>
          </ac:spMkLst>
        </pc:spChg>
        <pc:spChg chg="add mod">
          <ac:chgData name="Jeff Hackmeister" userId="68f37b0d588597b1" providerId="LiveId" clId="{9F1D49AA-69CD-4D0D-80D6-37491347B4F3}" dt="2026-05-16T01:29:48.917" v="447" actId="1035"/>
          <ac:spMkLst>
            <pc:docMk/>
            <pc:sldMk cId="2385734357" sldId="271"/>
            <ac:spMk id="26" creationId="{998BA81E-09A8-BDEF-B67F-72D9955575E9}"/>
          </ac:spMkLst>
        </pc:spChg>
        <pc:picChg chg="add mod">
          <ac:chgData name="Jeff Hackmeister" userId="68f37b0d588597b1" providerId="LiveId" clId="{9F1D49AA-69CD-4D0D-80D6-37491347B4F3}" dt="2026-05-16T01:29:56.885" v="449" actId="108"/>
          <ac:picMkLst>
            <pc:docMk/>
            <pc:sldMk cId="2385734357" sldId="271"/>
            <ac:picMk id="19" creationId="{C23E9E8A-5431-6553-F469-614BB9B05BB3}"/>
          </ac:picMkLst>
        </pc:picChg>
        <pc:picChg chg="add mod">
          <ac:chgData name="Jeff Hackmeister" userId="68f37b0d588597b1" providerId="LiveId" clId="{9F1D49AA-69CD-4D0D-80D6-37491347B4F3}" dt="2026-05-16T01:29:54.234" v="448" actId="108"/>
          <ac:picMkLst>
            <pc:docMk/>
            <pc:sldMk cId="2385734357" sldId="271"/>
            <ac:picMk id="20" creationId="{8CC82A94-D0AF-6852-02E2-AA93DDD4F19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026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and thank you for the opportunity to present my capstone project for ALY 6140.</a:t>
            </a:r>
          </a:p>
          <a:p>
            <a:endParaRPr/>
          </a:p>
          <a:p>
            <a:r>
              <a:t>My name is Jeff Hackmeister, and today I'll be walking you through an analysis of New York City's Emergency Medical Services dispatch data. The dataset comes from the FDNY's Computer Aided Dispatch system and covers roughly 3.19 million incidents between 2023 and 2025.</a:t>
            </a:r>
          </a:p>
          <a:p>
            <a:endParaRPr/>
          </a:p>
          <a:p>
            <a:r>
              <a:t>The central question driving this work is straightforward but important: can we use operational dispatch data to better understand EMS performance — and identify where the system may be leaving certain communities underserved?</a:t>
            </a:r>
          </a:p>
          <a:p>
            <a:endParaRPr/>
          </a:p>
          <a:p>
            <a:r>
              <a:t>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a quick roadmap of what we'll cover today.</a:t>
            </a:r>
          </a:p>
          <a:p>
            <a:endParaRPr/>
          </a:p>
          <a:p>
            <a:r>
              <a:t>We'll start with some background on why urban EMS is such a complex problem and why New York City is a particularly interesting case study. From there I'll walk through the three research questions that framed the analysis.</a:t>
            </a:r>
          </a:p>
          <a:p>
            <a:endParaRPr/>
          </a:p>
          <a:p>
            <a:r>
              <a:t>The bulk of the presentation covers the data — how it was prepared, what the exploratory analysis revealed, and the three modeling approaches I used. We'll close with conclusions and some thoughts on where this work could go next.</a:t>
            </a:r>
          </a:p>
          <a:p>
            <a:endParaRPr/>
          </a:p>
          <a:p>
            <a:r>
              <a:t>The whole presentation should run about 12 to 15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set the stage for why this analysis matters.</a:t>
            </a:r>
          </a:p>
          <a:p>
            <a:endParaRPr/>
          </a:p>
          <a:p>
            <a:r>
              <a:t>EMS response time is not just an operational metric — it is a direct determinant of patient outcomes. For cardiac arrest, for stroke, for severe trauma, every additional minute without intervention measurably reduces survival and recovery odds. In a city like New York, delivering consistent response times across all five boroughs is an enormous logistical challenge.</a:t>
            </a:r>
          </a:p>
          <a:p>
            <a:endParaRPr/>
          </a:p>
          <a:p>
            <a:r>
              <a:t>Population density, traffic congestion, building access, and socioeconomic factors all interact in ways that create real disparities in who gets help quickly and who doesn't.</a:t>
            </a:r>
          </a:p>
          <a:p>
            <a:endParaRPr/>
          </a:p>
          <a:p>
            <a:r>
              <a:t>The dataset used here was filtered from the full NYC Open Data portal — which contains 28.7 million rows going back many years — down to a post-pandemic window of 2023 through 2025. That gave us 3.19 million incidents to work with, using five key columns: timestamp, borough, call type, response time in seconds, and ZIP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analysis was built around three research questions.</a:t>
            </a:r>
          </a:p>
          <a:p>
            <a:endParaRPr/>
          </a:p>
          <a:p>
            <a:r>
              <a:t>First, how is call volume distributed across the city's five boroughs and over time? We want to understand the baseline demand patterns before drawing any conclusions.</a:t>
            </a:r>
          </a:p>
          <a:p>
            <a:endParaRPr/>
          </a:p>
          <a:p>
            <a:r>
              <a:t>Second, what factors are most strongly associated with response time? We're particularly interested in whether borough, time of day, or call type have measurable effects.</a:t>
            </a:r>
          </a:p>
          <a:p>
            <a:endParaRPr/>
          </a:p>
          <a:p>
            <a:r>
              <a:t>And third, are there patterns in the data that point to resource allocation opportunities — places or times where demand and response time suggest the system is stretched?</a:t>
            </a:r>
          </a:p>
          <a:p>
            <a:endParaRPr/>
          </a:p>
          <a:p>
            <a:r>
              <a:t>Keep these three questions in mind as we move through the findings.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Let's talk about how the data was prepared.</a:t>
            </a:r>
          </a:p>
          <a:p>
            <a:endParaRPr/>
          </a:p>
          <a:p>
            <a:r>
              <a:t>After filtering on the portal, we started with 3.19 million rows. Five columns were retained: incident datetime, borough, final call type, response time in seconds, and ZIP code. From those we derived five additional features — hour of day, day of week, month, year, and response time in minutes.</a:t>
            </a:r>
          </a:p>
          <a:p>
            <a:endParaRPr/>
          </a:p>
          <a:p>
            <a:r>
              <a:t>Two cleaning decisions are worth noting. Response times of zero or less were removed — these typically indicate a unit already on scene when the call came in. Response times over 120 minutes were removed as likely CAD errors.</a:t>
            </a:r>
          </a:p>
          <a:p>
            <a:endParaRPr/>
          </a:p>
          <a:p>
            <a:r>
              <a:t>A missing data check showed that borough and call type fields were nearly complete. ZIP code had a higher rate of missing values, which is why geographic analysis was kept at the borough level rather than ZIP code level.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E0F55-ABE0-F4BE-195B-AC916BF5EF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79775-1613-4808-3CEF-95E872EE45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6B44A-A635-69D3-2497-AE5C6682C09C}"/>
              </a:ext>
            </a:extLst>
          </p:cNvPr>
          <p:cNvSpPr>
            <a:spLocks noGrp="1"/>
          </p:cNvSpPr>
          <p:nvPr>
            <p:ph type="body" idx="1"/>
          </p:nvPr>
        </p:nvSpPr>
        <p:spPr/>
        <p:txBody>
          <a:bodyPr/>
          <a:lstStyle/>
          <a:p>
            <a:r>
              <a:t>These two charts show the temporal demand pattern and the breakdown of call types across the full dataset.</a:t>
            </a:r>
          </a:p>
          <a:p>
            <a:endParaRPr/>
          </a:p>
          <a:p>
            <a:r>
              <a:t>On the hour of day chart — the volume drops sharply overnight, reaching its lowest point around 3 to 4 AM, then climbs steadily through the morning and stays elevated from around 10 AM through midnight. This pattern is consistent across all three years and has clear staffing implications.</a:t>
            </a:r>
          </a:p>
          <a:p>
            <a:endParaRPr/>
          </a:p>
          <a:p>
            <a:r>
              <a:t>On the call type chart — the top 20 types are shown here using their CAD codes. SICK and INJURY dominate by a wide margin, together accounting for a substantial share of all incidents. Further down you have categories like CARD for cardiac, CARDBR for cardiac arrest, UNKNOW for unknown, and UNC for unconscious. At the bottom of the top 20, EDPM covers non-violent psychiatric patients and CVAC covers critical stroke calls. The concentration in a handful of call types means that targeted protocols for these categories could have outsized system-wide impact.</a:t>
            </a:r>
          </a:p>
        </p:txBody>
      </p:sp>
      <p:sp>
        <p:nvSpPr>
          <p:cNvPr id="4" name="Slide Number Placeholder 3">
            <a:extLst>
              <a:ext uri="{FF2B5EF4-FFF2-40B4-BE49-F238E27FC236}">
                <a16:creationId xmlns:a16="http://schemas.microsoft.com/office/drawing/2014/main" id="{655C2D70-B624-FDFC-86B0-F7AD58FE011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663122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Moving into the borough-level findings.</a:t>
            </a:r>
          </a:p>
          <a:p>
            <a:endParaRPr dirty="0"/>
          </a:p>
          <a:p>
            <a:r>
              <a:rPr dirty="0"/>
              <a:t>Looking at the actual counts from the chart: Brooklyn leads with just over 928,000 incidents, followed by</a:t>
            </a:r>
            <a:r>
              <a:rPr lang="en-US" dirty="0"/>
              <a:t> Manhattan at 745,000,</a:t>
            </a:r>
            <a:r>
              <a:rPr dirty="0"/>
              <a:t> the Bronx at 727,000, Queens at 703,000, and Staten Island at just 156,000.</a:t>
            </a:r>
          </a:p>
          <a:p>
            <a:endParaRPr dirty="0"/>
          </a:p>
          <a:p>
            <a:r>
              <a:rPr dirty="0"/>
              <a:t>The ordering here is worth pausing on. Brooklyn's lead is expected given its population, but the Bronx ranking </a:t>
            </a:r>
            <a:r>
              <a:rPr lang="en-US" dirty="0"/>
              <a:t>a close third</a:t>
            </a:r>
            <a:r>
              <a:rPr dirty="0"/>
              <a:t> — </a:t>
            </a:r>
            <a:r>
              <a:rPr lang="en-US" dirty="0"/>
              <a:t>just behind </a:t>
            </a:r>
            <a:r>
              <a:rPr dirty="0"/>
              <a:t>Manhattan </a:t>
            </a:r>
            <a:r>
              <a:rPr lang="en-US" dirty="0"/>
              <a:t>—</a:t>
            </a:r>
            <a:r>
              <a:rPr dirty="0"/>
              <a:t> is notable. The Bronx has a smaller</a:t>
            </a:r>
            <a:r>
              <a:rPr lang="en-US" dirty="0"/>
              <a:t> population</a:t>
            </a:r>
            <a:r>
              <a:rPr dirty="0"/>
              <a:t>, which means its incident rate per capita is actually quite high. That becomes an important thread when we get to the response time findings.</a:t>
            </a:r>
          </a:p>
          <a:p>
            <a:endParaRPr dirty="0"/>
          </a:p>
          <a:p>
            <a:r>
              <a:rPr dirty="0"/>
              <a:t>Staten Island's volume is dramatically lower, consistent with it being the least populous borough by a significant margin.</a:t>
            </a: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When we look at response time by borough, the boxplot tells an interesting story.</a:t>
            </a:r>
          </a:p>
          <a:p>
            <a:endParaRPr dirty="0"/>
          </a:p>
          <a:p>
            <a:r>
              <a:rPr dirty="0"/>
              <a:t>The green line inside each box is the median. Visually, the Bronx</a:t>
            </a:r>
            <a:r>
              <a:rPr lang="en-US" dirty="0"/>
              <a:t> sits</a:t>
            </a:r>
            <a:r>
              <a:rPr dirty="0"/>
              <a:t> noticeably higher than Manhattan</a:t>
            </a:r>
            <a:r>
              <a:rPr lang="en-US" dirty="0"/>
              <a:t>, Brooklyn</a:t>
            </a:r>
            <a:r>
              <a:rPr dirty="0"/>
              <a:t> and Queens, with Staten Island showing the lowest median — but also a very compressed interquartile range and an unusually clean low end.</a:t>
            </a:r>
          </a:p>
          <a:p>
            <a:endParaRPr dirty="0"/>
          </a:p>
          <a:p>
            <a:r>
              <a:rPr dirty="0"/>
              <a:t>One thing to flag here: you'll notice an UNKNOWN category on the far right. These are records where borough was not captured by the CAD system. They have a notably low median response time with a tight distribution — which likely reflects incidents that were closed quickly or involved errors in data entry. These were kept in the dataset for completeness but excluded from the borough-specific analysis.</a:t>
            </a:r>
          </a:p>
          <a:p>
            <a:endParaRPr dirty="0"/>
          </a:p>
          <a:p>
            <a:r>
              <a:rPr dirty="0"/>
              <a:t>On the statistical test: the Kruskal-Wallis H of over 11,000 with a p-value effectively at zero confirms that the differences between all five boroughs are real. The post-hoc pairwise comparisons, showed every single borough pair is significantly different. The absolute differences are under a minute — but in cardiac arrest response, one minute changes survival odds meaningfully.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first model used multiple linear regression to predict response time from borough, hour of day, day of week, and call type.</a:t>
            </a:r>
          </a:p>
          <a:p>
            <a:endParaRPr dirty="0"/>
          </a:p>
          <a:p>
            <a:r>
              <a:rPr dirty="0"/>
              <a:t>A log transformation was applied to the response time column to address the right-skewed distribution common in time-to-event data. The dataset was split 80/20 for training and testing with a fixed random seed.</a:t>
            </a:r>
          </a:p>
          <a:p>
            <a:endParaRPr dirty="0"/>
          </a:p>
          <a:p>
            <a:r>
              <a:rPr dirty="0"/>
              <a:t>The results were honestly quite poor: an R-squared of 0.0013 means the model explains less than two-tenths of one percent of the variance in response time. The RMSE on the log scale was 0.42.</a:t>
            </a:r>
          </a:p>
          <a:p>
            <a:endParaRPr dirty="0"/>
          </a:p>
          <a:p>
            <a:r>
              <a:rPr dirty="0"/>
              <a:t>This is actually an informative finding in its own right. It tells us that the structural features available in the CAD system — borough, time of day, call type — are simply not enough to predict how long an individual response will take. The variation is driven by factors not captured here: where the nearest unit was at dispatch, real-time traffic, building access, crew readiness. Future modeling efforts need that richer data to produce something useful for operational decisions.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51D23-1260-47FB-7188-204746357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C5274-C2A3-6088-AFE3-47CF702A3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E6601-EC90-8A60-DB86-6BDB9562125A}"/>
              </a:ext>
            </a:extLst>
          </p:cNvPr>
          <p:cNvSpPr>
            <a:spLocks noGrp="1"/>
          </p:cNvSpPr>
          <p:nvPr>
            <p:ph type="body" idx="1"/>
          </p:nvPr>
        </p:nvSpPr>
        <p:spPr/>
        <p:txBody>
          <a:bodyPr/>
          <a:lstStyle/>
          <a:p>
            <a:r>
              <a:rPr dirty="0"/>
              <a:t>The second model took a different approach. Rather than trying to predict individual response times, K-Means clustering was used to identify natural groupings of demand patterns across the system.</a:t>
            </a:r>
          </a:p>
          <a:p>
            <a:endParaRPr dirty="0"/>
          </a:p>
          <a:p>
            <a:r>
              <a:rPr dirty="0"/>
              <a:t>The feature matrix was built by aggregating to the borough-by-hour level — so each data point represents one borough at one hour of the day, with total incident count and average response time as the features. Those were then normalized using z-scores before clustering.</a:t>
            </a:r>
          </a:p>
          <a:p>
            <a:endParaRPr dirty="0"/>
          </a:p>
          <a:p>
            <a:r>
              <a:rPr dirty="0"/>
              <a:t>Looking at the elbow plot on the right — the inertia drops steeply from k equals 2 to k equals 4, then begins to flatten out. The transition is gradual rather than a sharp elbow, which is typical for this type of demand data. K equals 5 was selected as a reasonable stopping point, and as we'll see on the next slide, that choice turned out to be very interpretable — because each cluster maps cleanly onto one of the five boroughs.</a:t>
            </a:r>
          </a:p>
        </p:txBody>
      </p:sp>
      <p:sp>
        <p:nvSpPr>
          <p:cNvPr id="4" name="Slide Number Placeholder 3">
            <a:extLst>
              <a:ext uri="{FF2B5EF4-FFF2-40B4-BE49-F238E27FC236}">
                <a16:creationId xmlns:a16="http://schemas.microsoft.com/office/drawing/2014/main" id="{946F78B6-B14F-8687-ABF3-6B61A7FB670D}"/>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48693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bubble chart shows the clustering result. The x-axis is hour of day, the y-axis is average response time in minutes, and bubble size represents incident volume. The color coding on the right identifies each cluster.</a:t>
            </a:r>
          </a:p>
          <a:p>
            <a:endParaRPr dirty="0"/>
          </a:p>
          <a:p>
            <a:r>
              <a:rPr dirty="0"/>
              <a:t>What jumps out immediately is the horizontal banding — there are distinct tiers of average response time that remain fairly consistent across all hours of the day. The top band, sitting around 8 to 9 minutes, corresponds to the Bronx cluster. The bottom band, around 3 to 4 minutes, is Staten Island. Manhattan, Brooklyn, and Queens fall in between.</a:t>
            </a:r>
          </a:p>
          <a:p>
            <a:endParaRPr dirty="0"/>
          </a:p>
          <a:p>
            <a:r>
              <a:rPr dirty="0"/>
              <a:t>The key insight here is that the bands don't cross or merge as you move across the hours. If time of day were the dominant driver, you'd expect to see convergence overnight and divergence during peak hours. Instead, the cluster structure stays stable — confirming that borough identity is the dominant differentiator, not time of day.</a:t>
            </a:r>
          </a:p>
          <a:p>
            <a:endParaRPr dirty="0"/>
          </a:p>
          <a:p>
            <a:r>
              <a:rPr dirty="0"/>
              <a:t>From a resource allocation standpoint, this points to structural borough-level differences that can't be solved by redistributing shifts. They require borough-specific investments.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third model used Kernel Density Estimation to characterize the distribution of response times and identify high-severity incidents.</a:t>
            </a:r>
          </a:p>
          <a:p>
            <a:endParaRPr dirty="0"/>
          </a:p>
          <a:p>
            <a:r>
              <a:rPr dirty="0"/>
              <a:t>On this slide we're looking at the heatmap of high-severity incidents — defined as response times exceeding 10 minutes — broken down by borough and hour of day.</a:t>
            </a:r>
          </a:p>
          <a:p>
            <a:endParaRPr dirty="0"/>
          </a:p>
          <a:p>
            <a:r>
              <a:rPr dirty="0"/>
              <a:t>The color scale goes from light yellow at low counts to deep red at high counts. A few things stand out immediately. The Bronx row is consistently dark red across almost all hours, with only a slight dip in the very early morning. Brooklyn is similar, though slightly lighter. Manhattan shows moderate severity counts but also sustains them throughout the day. Queens is lighter than both, and Staten Island is the lightest row by far — mostly yellows and light oranges.</a:t>
            </a:r>
          </a:p>
          <a:p>
            <a:endParaRPr dirty="0"/>
          </a:p>
          <a:p>
            <a:r>
              <a:rPr dirty="0"/>
              <a:t>The UNKNOWN row appears again here, with very low counts — consistent with what we saw in the boxplot.</a:t>
            </a:r>
          </a:p>
          <a:p>
            <a:endParaRPr dirty="0"/>
          </a:p>
          <a:p>
            <a:r>
              <a:rPr dirty="0"/>
              <a:t>The midday-to-evening intensification is visible across all boroughs, confirming that the afternoon and evening hours are when the system is under the most stress.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3DD54-F6FE-512F-CD25-E18EA442A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BF595E-9FB2-07B5-924B-C09286B85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9B9C3-0E28-9929-7794-3136CE98BE09}"/>
              </a:ext>
            </a:extLst>
          </p:cNvPr>
          <p:cNvSpPr>
            <a:spLocks noGrp="1"/>
          </p:cNvSpPr>
          <p:nvPr>
            <p:ph type="body" idx="1"/>
          </p:nvPr>
        </p:nvSpPr>
        <p:spPr/>
        <p:txBody>
          <a:bodyPr/>
          <a:lstStyle/>
          <a:p>
            <a:r>
              <a:rPr dirty="0"/>
              <a:t>On this slide we're looking at the KDE curves themselves — the blue curve is the Normal group, meaning response times under 10 minutes, and the red curve is the High Severity group at 10 minutes or above.</a:t>
            </a:r>
          </a:p>
          <a:p>
            <a:endParaRPr dirty="0"/>
          </a:p>
          <a:p>
            <a:r>
              <a:rPr dirty="0"/>
              <a:t>The Normal curve peaks sharply around 6 to 7 minutes, which aligns with the median response times we saw in the boxplot. It drops off quickly on both sides, indicating a tight, well-behaved distribution for the majority of calls.</a:t>
            </a:r>
          </a:p>
          <a:p>
            <a:endParaRPr dirty="0"/>
          </a:p>
          <a:p>
            <a:r>
              <a:rPr dirty="0"/>
              <a:t>The High Severity curve tells a different story. It spikes very sharply right at the 10-minute cutoff — which by definition is where it starts — and then has a substantial tail that extends out toward 20 to 25 minutes, with a long, slow decay beyond that.</a:t>
            </a:r>
          </a:p>
          <a:p>
            <a:endParaRPr dirty="0"/>
          </a:p>
          <a:p>
            <a:r>
              <a:rPr dirty="0"/>
              <a:t>This sharp spike at exactly 10 minutes is actually meaningful. It's not a natural distribution feature — it reflects calls that just crossed the threshold. The long tail represents the truly delayed responses, where something went meaningfully wrong: a unit wasn't close, traffic was severe, or the call was mis-triaged initially.</a:t>
            </a:r>
          </a:p>
          <a:p>
            <a:endParaRPr dirty="0"/>
          </a:p>
          <a:p>
            <a:r>
              <a:rPr dirty="0"/>
              <a:t>Together, these two charts tell us that most of the system performs well most of the time. The problem is concentrated in a specific subset of incidents — and as the heatmap showed, those incidents cluster heavily in the Bronx and Brooklyn.</a:t>
            </a:r>
          </a:p>
        </p:txBody>
      </p:sp>
      <p:sp>
        <p:nvSpPr>
          <p:cNvPr id="4" name="Slide Number Placeholder 3">
            <a:extLst>
              <a:ext uri="{FF2B5EF4-FFF2-40B4-BE49-F238E27FC236}">
                <a16:creationId xmlns:a16="http://schemas.microsoft.com/office/drawing/2014/main" id="{1C8DD703-807C-64BE-6F28-6CEF7C8333E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1939653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Let me bring all five findings together before we close.</a:t>
            </a:r>
          </a:p>
          <a:p>
            <a:endParaRPr dirty="0"/>
          </a:p>
          <a:p>
            <a:r>
              <a:rPr dirty="0"/>
              <a:t>On call volume: Brooklyn leads the city, but the Bronx punches well above its weight relative to population. The temporal pattern is clear — early morning is quiet, midday through evening is peak demand.</a:t>
            </a:r>
          </a:p>
          <a:p>
            <a:endParaRPr dirty="0"/>
          </a:p>
          <a:p>
            <a:r>
              <a:rPr dirty="0"/>
              <a:t>On response equity: the Bronx is the consistent outlier. Slowest median times, highest severity concentration, and high per-capita call volume. That combination in the most economically disadvantaged borough is the central equity finding of this study.</a:t>
            </a:r>
          </a:p>
          <a:p>
            <a:endParaRPr dirty="0"/>
          </a:p>
          <a:p>
            <a:r>
              <a:rPr dirty="0"/>
              <a:t>On the regression model: the near-zero R-squared is a finding, not just a limitation. It tells us the CAD system alone lacks the data needed to predict individual response times. The unmeasured variables — unit location, traffic, crew state — are where the real predictive signal lives.</a:t>
            </a:r>
          </a:p>
          <a:p>
            <a:endParaRPr dirty="0"/>
          </a:p>
          <a:p>
            <a:r>
              <a:rPr dirty="0"/>
              <a:t>On clustering: borough dominates. K-Means produced five stable clusters that map directly onto the five boroughs. Time-of-day effects exist but don't change the fundamental structure.</a:t>
            </a:r>
          </a:p>
          <a:p>
            <a:endParaRPr dirty="0"/>
          </a:p>
          <a:p>
            <a:r>
              <a:rPr dirty="0"/>
              <a:t>And on severity: KDE shows a clear concentration of delayed responses in the Bronx and Brooklyn, peaking in the afternoon and evening hours.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Pulling back to the big picture, this study makes two things clear.</a:t>
            </a:r>
          </a:p>
          <a:p>
            <a:endParaRPr/>
          </a:p>
          <a:p>
            <a:r>
              <a:t>First, there are real and statistically significant response inequities across NYC's boroughs, and the Bronx bears a disproportionate burden. It has the slowest response times, the highest concentration of high-severity incidents, and elevated per-capita call volume — all while being the least economically resourced borough. That combination makes a data-supported case for targeted investment in Bronx EMS capacity.</a:t>
            </a:r>
          </a:p>
          <a:p>
            <a:endParaRPr/>
          </a:p>
          <a:p>
            <a:r>
              <a:t>Second, CAD data alone has real limits as a predictive tool. The regression result isn't a failure — it's a finding. It tells us we need unit location at dispatch, traffic conditions, and weather data before we can build something operationally useful for predicting response times in real time.</a:t>
            </a:r>
          </a:p>
          <a:p>
            <a:endParaRPr/>
          </a:p>
          <a:p>
            <a:r>
              <a:t>Despite those limitations, this analysis demonstrates that systematic interrogation of dispatch data has genuine value for civic decision-making. We can identify where the system is strained and make a data-driven case for where resources should go.</a:t>
            </a:r>
          </a:p>
          <a:p>
            <a:endParaRPr/>
          </a:p>
          <a:p>
            <a:r>
              <a:t>On future work: the three highest-priority enhancements would be GPS unit location at dispatch, real-time traffic feeds like the NYC DOT API, and weather data. On the modeling side, gradient boosted models like XGBoost would likely outperform linear regression substantially once that richer feature set is available. Expanding geographic resolution to ZIP code level with imputed coordinates would also allow much more granular analysis than borough-level aggregation permits.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That brings me to the end of the presentation. Thank you for your time and attention.</a:t>
            </a:r>
          </a:p>
          <a:p>
            <a:endParaRPr/>
          </a:p>
          <a:p>
            <a:r>
              <a:t>I'm happy to take questions on the methodology, the findings, or the data itself. I can also walk through the Python code in more detail if that's useful — the full analysis is in the accompanying notebook and script files.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p:spPr>
        <p:txBody>
          <a:bodyPr/>
          <a:lstStyle/>
          <a:p>
            <a:endParaRPr lang="en-US"/>
          </a:p>
        </p:txBody>
      </p:sp>
      <p:sp>
        <p:nvSpPr>
          <p:cNvPr id="3" name="Shape 1"/>
          <p:cNvSpPr/>
          <p:nvPr/>
        </p:nvSpPr>
        <p:spPr>
          <a:xfrm>
            <a:off x="6217920" y="-914400"/>
            <a:ext cx="4114800" cy="4114800"/>
          </a:xfrm>
          <a:prstGeom prst="ellipse">
            <a:avLst/>
          </a:prstGeom>
          <a:solidFill>
            <a:srgbClr val="1C7293">
              <a:alpha val="20000"/>
            </a:srgbClr>
          </a:solidFill>
          <a:ln w="12700">
            <a:solidFill>
              <a:srgbClr val="1C7293"/>
            </a:solidFill>
            <a:prstDash val="solid"/>
          </a:ln>
        </p:spPr>
        <p:txBody>
          <a:bodyPr/>
          <a:lstStyle/>
          <a:p>
            <a:endParaRPr lang="en-US"/>
          </a:p>
        </p:txBody>
      </p:sp>
      <p:sp>
        <p:nvSpPr>
          <p:cNvPr id="4" name="Shape 2"/>
          <p:cNvSpPr/>
          <p:nvPr/>
        </p:nvSpPr>
        <p:spPr>
          <a:xfrm>
            <a:off x="6858000" y="2194560"/>
            <a:ext cx="2926080" cy="2926080"/>
          </a:xfrm>
          <a:prstGeom prst="ellipse">
            <a:avLst/>
          </a:prstGeom>
          <a:solidFill>
            <a:srgbClr val="C0392B">
              <a:alpha val="15000"/>
            </a:srgbClr>
          </a:solidFill>
          <a:ln w="12700">
            <a:solidFill>
              <a:srgbClr val="C0392B"/>
            </a:solidFill>
            <a:prstDash val="solid"/>
          </a:ln>
        </p:spPr>
        <p:txBody>
          <a:bodyPr/>
          <a:lstStyle/>
          <a:p>
            <a:endParaRPr lang="en-US"/>
          </a:p>
        </p:txBody>
      </p:sp>
      <p:sp>
        <p:nvSpPr>
          <p:cNvPr id="5" name="Text 3"/>
          <p:cNvSpPr/>
          <p:nvPr/>
        </p:nvSpPr>
        <p:spPr>
          <a:xfrm>
            <a:off x="411480" y="960120"/>
            <a:ext cx="7772400" cy="777240"/>
          </a:xfrm>
          <a:prstGeom prst="rect">
            <a:avLst/>
          </a:prstGeom>
          <a:noFill/>
          <a:ln/>
        </p:spPr>
        <p:txBody>
          <a:bodyPr wrap="square" rtlCol="0" anchor="ctr"/>
          <a:lstStyle/>
          <a:p>
            <a:pPr marL="0" indent="0">
              <a:buNone/>
            </a:pPr>
            <a:r>
              <a:rPr lang="en-US" sz="4200" b="1" dirty="0">
                <a:solidFill>
                  <a:srgbClr val="FFFFFF"/>
                </a:solidFill>
                <a:latin typeface="Trebuchet MS" pitchFamily="34" charset="0"/>
                <a:ea typeface="Trebuchet MS" pitchFamily="34" charset="-122"/>
                <a:cs typeface="Trebuchet MS" pitchFamily="34" charset="-120"/>
              </a:rPr>
              <a:t>NYC EMS Incident</a:t>
            </a:r>
            <a:endParaRPr lang="en-US" sz="4200" dirty="0"/>
          </a:p>
        </p:txBody>
      </p:sp>
      <p:sp>
        <p:nvSpPr>
          <p:cNvPr id="6" name="Text 4"/>
          <p:cNvSpPr/>
          <p:nvPr/>
        </p:nvSpPr>
        <p:spPr>
          <a:xfrm>
            <a:off x="411480" y="1719072"/>
            <a:ext cx="7772400" cy="777240"/>
          </a:xfrm>
          <a:prstGeom prst="rect">
            <a:avLst/>
          </a:prstGeom>
          <a:noFill/>
          <a:ln/>
        </p:spPr>
        <p:txBody>
          <a:bodyPr wrap="square" rtlCol="0" anchor="ctr"/>
          <a:lstStyle/>
          <a:p>
            <a:pPr marL="0" indent="0">
              <a:buNone/>
            </a:pPr>
            <a:r>
              <a:rPr lang="en-US" sz="4200" b="1" dirty="0">
                <a:solidFill>
                  <a:srgbClr val="FFFFFF"/>
                </a:solidFill>
                <a:latin typeface="Trebuchet MS" pitchFamily="34" charset="0"/>
                <a:ea typeface="Trebuchet MS" pitchFamily="34" charset="-122"/>
                <a:cs typeface="Trebuchet MS" pitchFamily="34" charset="-120"/>
              </a:rPr>
              <a:t>Dispatch Data Analysis</a:t>
            </a:r>
            <a:endParaRPr lang="en-US" sz="4200" dirty="0"/>
          </a:p>
        </p:txBody>
      </p:sp>
      <p:sp>
        <p:nvSpPr>
          <p:cNvPr id="7" name="Text 5"/>
          <p:cNvSpPr/>
          <p:nvPr/>
        </p:nvSpPr>
        <p:spPr>
          <a:xfrm>
            <a:off x="411480" y="2743200"/>
            <a:ext cx="6400800" cy="347472"/>
          </a:xfrm>
          <a:prstGeom prst="rect">
            <a:avLst/>
          </a:prstGeom>
          <a:noFill/>
          <a:ln/>
        </p:spPr>
        <p:txBody>
          <a:bodyPr wrap="square" rtlCol="0" anchor="ctr"/>
          <a:lstStyle/>
          <a:p>
            <a:pPr marL="0" indent="0">
              <a:buNone/>
            </a:pPr>
            <a:r>
              <a:rPr lang="en-US" sz="1600" dirty="0">
                <a:solidFill>
                  <a:srgbClr val="D6E8F5"/>
                </a:solidFill>
                <a:latin typeface="Calibri" pitchFamily="34" charset="0"/>
                <a:ea typeface="Calibri" pitchFamily="34" charset="-122"/>
                <a:cs typeface="Calibri" pitchFamily="34" charset="-120"/>
              </a:rPr>
              <a:t>ALY 6140 Capstone Project  ·  Jeff Hackmeister</a:t>
            </a:r>
            <a:endParaRPr lang="en-US" sz="1600" dirty="0"/>
          </a:p>
        </p:txBody>
      </p:sp>
      <p:sp>
        <p:nvSpPr>
          <p:cNvPr id="8" name="Text 6"/>
          <p:cNvSpPr/>
          <p:nvPr/>
        </p:nvSpPr>
        <p:spPr>
          <a:xfrm>
            <a:off x="411480" y="3127248"/>
            <a:ext cx="64008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Northeastern University  ·  2025–2026</a:t>
            </a:r>
            <a:endParaRPr lang="en-US" sz="1400" dirty="0"/>
          </a:p>
        </p:txBody>
      </p:sp>
      <p:sp>
        <p:nvSpPr>
          <p:cNvPr id="9" name="Shape 7"/>
          <p:cNvSpPr/>
          <p:nvPr/>
        </p:nvSpPr>
        <p:spPr>
          <a:xfrm>
            <a:off x="411480" y="3749040"/>
            <a:ext cx="8229600" cy="36576"/>
          </a:xfrm>
          <a:prstGeom prst="rect">
            <a:avLst/>
          </a:prstGeom>
          <a:solidFill>
            <a:srgbClr val="1C7293"/>
          </a:solidFill>
          <a:ln/>
        </p:spPr>
        <p:txBody>
          <a:bodyPr/>
          <a:lstStyle/>
          <a:p>
            <a:endParaRPr lang="en-US"/>
          </a:p>
        </p:txBody>
      </p:sp>
      <p:sp>
        <p:nvSpPr>
          <p:cNvPr id="10" name="Text 8"/>
          <p:cNvSpPr/>
          <p:nvPr/>
        </p:nvSpPr>
        <p:spPr>
          <a:xfrm>
            <a:off x="411480" y="3886200"/>
            <a:ext cx="822960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NYC Open Data  ·  2023–2025  ·  3.19 Million EMS Incidents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Agenda</a:t>
            </a:r>
            <a:endParaRPr lang="en-US" sz="2600" dirty="0"/>
          </a:p>
        </p:txBody>
      </p:sp>
      <p:sp>
        <p:nvSpPr>
          <p:cNvPr id="4" name="Shape 2"/>
          <p:cNvSpPr/>
          <p:nvPr/>
        </p:nvSpPr>
        <p:spPr>
          <a:xfrm>
            <a:off x="320040" y="914400"/>
            <a:ext cx="502920" cy="50292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320040" y="914400"/>
            <a:ext cx="502920" cy="502920"/>
          </a:xfrm>
          <a:prstGeom prst="rect">
            <a:avLst/>
          </a:prstGeom>
          <a:noFill/>
          <a:ln/>
        </p:spPr>
        <p:txBody>
          <a:bodyPr wrap="square" rtlCol="0" anchor="ctr"/>
          <a:lstStyle/>
          <a:p>
            <a:pPr marL="0" indent="0" algn="ctr">
              <a:buNone/>
            </a:pPr>
            <a:r>
              <a:rPr lang="en-US" sz="1600" b="1" dirty="0">
                <a:solidFill>
                  <a:srgbClr val="FFFFFF"/>
                </a:solidFill>
              </a:rPr>
              <a:t>01</a:t>
            </a:r>
            <a:endParaRPr lang="en-US" sz="1600" dirty="0"/>
          </a:p>
        </p:txBody>
      </p:sp>
      <p:sp>
        <p:nvSpPr>
          <p:cNvPr id="6" name="Text 4"/>
          <p:cNvSpPr/>
          <p:nvPr/>
        </p:nvSpPr>
        <p:spPr>
          <a:xfrm>
            <a:off x="960120" y="914400"/>
            <a:ext cx="3474720" cy="274320"/>
          </a:xfrm>
          <a:prstGeom prst="rect">
            <a:avLst/>
          </a:prstGeom>
          <a:noFill/>
          <a:ln/>
        </p:spPr>
        <p:txBody>
          <a:bodyPr wrap="square" lIns="0" tIns="0" rIns="0" bIns="0" rtlCol="0" anchor="ctr"/>
          <a:lstStyle/>
          <a:p>
            <a:pPr marL="0" indent="0">
              <a:buNone/>
            </a:pPr>
            <a:r>
              <a:rPr lang="en-US" sz="1500" b="1" dirty="0">
                <a:solidFill>
                  <a:srgbClr val="1E293B"/>
                </a:solidFill>
                <a:latin typeface="Trebuchet MS" pitchFamily="34" charset="0"/>
                <a:ea typeface="Trebuchet MS" pitchFamily="34" charset="-122"/>
                <a:cs typeface="Trebuchet MS" pitchFamily="34" charset="-120"/>
              </a:rPr>
              <a:t>Background</a:t>
            </a:r>
            <a:endParaRPr lang="en-US" sz="1500" dirty="0"/>
          </a:p>
        </p:txBody>
      </p:sp>
      <p:sp>
        <p:nvSpPr>
          <p:cNvPr id="7" name="Text 5"/>
          <p:cNvSpPr/>
          <p:nvPr/>
        </p:nvSpPr>
        <p:spPr>
          <a:xfrm>
            <a:off x="960120" y="1170432"/>
            <a:ext cx="77724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The challenge of urban EMS in NYC</a:t>
            </a:r>
            <a:endParaRPr lang="en-US" sz="1200" dirty="0"/>
          </a:p>
        </p:txBody>
      </p:sp>
      <p:sp>
        <p:nvSpPr>
          <p:cNvPr id="8" name="Shape 6"/>
          <p:cNvSpPr/>
          <p:nvPr/>
        </p:nvSpPr>
        <p:spPr>
          <a:xfrm>
            <a:off x="320040" y="1444752"/>
            <a:ext cx="8503920" cy="0"/>
          </a:xfrm>
          <a:prstGeom prst="line">
            <a:avLst/>
          </a:prstGeom>
          <a:noFill/>
          <a:ln w="6350">
            <a:solidFill>
              <a:srgbClr val="D1D5DB"/>
            </a:solidFill>
            <a:prstDash val="solid"/>
          </a:ln>
        </p:spPr>
        <p:txBody>
          <a:bodyPr/>
          <a:lstStyle/>
          <a:p>
            <a:endParaRPr lang="en-US"/>
          </a:p>
        </p:txBody>
      </p:sp>
      <p:sp>
        <p:nvSpPr>
          <p:cNvPr id="9" name="Shape 7"/>
          <p:cNvSpPr/>
          <p:nvPr/>
        </p:nvSpPr>
        <p:spPr>
          <a:xfrm>
            <a:off x="320040" y="1682496"/>
            <a:ext cx="502920" cy="50292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10" name="Text 8"/>
          <p:cNvSpPr/>
          <p:nvPr/>
        </p:nvSpPr>
        <p:spPr>
          <a:xfrm>
            <a:off x="320040" y="1682496"/>
            <a:ext cx="502920" cy="502920"/>
          </a:xfrm>
          <a:prstGeom prst="rect">
            <a:avLst/>
          </a:prstGeom>
          <a:noFill/>
          <a:ln/>
        </p:spPr>
        <p:txBody>
          <a:bodyPr wrap="square" rtlCol="0" anchor="ctr"/>
          <a:lstStyle/>
          <a:p>
            <a:pPr marL="0" indent="0" algn="ctr">
              <a:buNone/>
            </a:pPr>
            <a:r>
              <a:rPr lang="en-US" sz="1600" b="1" dirty="0">
                <a:solidFill>
                  <a:srgbClr val="FFFFFF"/>
                </a:solidFill>
              </a:rPr>
              <a:t>02</a:t>
            </a:r>
            <a:endParaRPr lang="en-US" sz="1600" dirty="0"/>
          </a:p>
        </p:txBody>
      </p:sp>
      <p:sp>
        <p:nvSpPr>
          <p:cNvPr id="11" name="Text 9"/>
          <p:cNvSpPr/>
          <p:nvPr/>
        </p:nvSpPr>
        <p:spPr>
          <a:xfrm>
            <a:off x="960120" y="1682496"/>
            <a:ext cx="3474720" cy="274320"/>
          </a:xfrm>
          <a:prstGeom prst="rect">
            <a:avLst/>
          </a:prstGeom>
          <a:noFill/>
          <a:ln/>
        </p:spPr>
        <p:txBody>
          <a:bodyPr wrap="square" lIns="0" tIns="0" rIns="0" bIns="0" rtlCol="0" anchor="ctr"/>
          <a:lstStyle/>
          <a:p>
            <a:pPr marL="0" indent="0">
              <a:buNone/>
            </a:pPr>
            <a:r>
              <a:rPr lang="en-US" sz="1500" b="1" dirty="0">
                <a:solidFill>
                  <a:srgbClr val="1E293B"/>
                </a:solidFill>
                <a:latin typeface="Trebuchet MS" pitchFamily="34" charset="0"/>
                <a:ea typeface="Trebuchet MS" pitchFamily="34" charset="-122"/>
                <a:cs typeface="Trebuchet MS" pitchFamily="34" charset="-120"/>
              </a:rPr>
              <a:t>Research Questions</a:t>
            </a:r>
            <a:endParaRPr lang="en-US" sz="1500" dirty="0"/>
          </a:p>
        </p:txBody>
      </p:sp>
      <p:sp>
        <p:nvSpPr>
          <p:cNvPr id="12" name="Text 10"/>
          <p:cNvSpPr/>
          <p:nvPr/>
        </p:nvSpPr>
        <p:spPr>
          <a:xfrm>
            <a:off x="960120" y="1938528"/>
            <a:ext cx="77724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What we set out to learn</a:t>
            </a:r>
            <a:endParaRPr lang="en-US" sz="1200" dirty="0"/>
          </a:p>
        </p:txBody>
      </p:sp>
      <p:sp>
        <p:nvSpPr>
          <p:cNvPr id="13" name="Shape 11"/>
          <p:cNvSpPr/>
          <p:nvPr/>
        </p:nvSpPr>
        <p:spPr>
          <a:xfrm>
            <a:off x="320040" y="2212848"/>
            <a:ext cx="8503920" cy="0"/>
          </a:xfrm>
          <a:prstGeom prst="line">
            <a:avLst/>
          </a:prstGeom>
          <a:noFill/>
          <a:ln w="6350">
            <a:solidFill>
              <a:srgbClr val="D1D5DB"/>
            </a:solidFill>
            <a:prstDash val="solid"/>
          </a:ln>
        </p:spPr>
        <p:txBody>
          <a:bodyPr/>
          <a:lstStyle/>
          <a:p>
            <a:endParaRPr lang="en-US"/>
          </a:p>
        </p:txBody>
      </p:sp>
      <p:sp>
        <p:nvSpPr>
          <p:cNvPr id="14" name="Shape 12"/>
          <p:cNvSpPr/>
          <p:nvPr/>
        </p:nvSpPr>
        <p:spPr>
          <a:xfrm>
            <a:off x="320040" y="2450592"/>
            <a:ext cx="502920" cy="50292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15" name="Text 13"/>
          <p:cNvSpPr/>
          <p:nvPr/>
        </p:nvSpPr>
        <p:spPr>
          <a:xfrm>
            <a:off x="320040" y="2450592"/>
            <a:ext cx="502920" cy="502920"/>
          </a:xfrm>
          <a:prstGeom prst="rect">
            <a:avLst/>
          </a:prstGeom>
          <a:noFill/>
          <a:ln/>
        </p:spPr>
        <p:txBody>
          <a:bodyPr wrap="square" rtlCol="0" anchor="ctr"/>
          <a:lstStyle/>
          <a:p>
            <a:pPr marL="0" indent="0" algn="ctr">
              <a:buNone/>
            </a:pPr>
            <a:r>
              <a:rPr lang="en-US" sz="1600" b="1" dirty="0">
                <a:solidFill>
                  <a:srgbClr val="FFFFFF"/>
                </a:solidFill>
              </a:rPr>
              <a:t>03</a:t>
            </a:r>
            <a:endParaRPr lang="en-US" sz="1600" dirty="0"/>
          </a:p>
        </p:txBody>
      </p:sp>
      <p:sp>
        <p:nvSpPr>
          <p:cNvPr id="16" name="Text 14"/>
          <p:cNvSpPr/>
          <p:nvPr/>
        </p:nvSpPr>
        <p:spPr>
          <a:xfrm>
            <a:off x="960120" y="2450592"/>
            <a:ext cx="3474720" cy="274320"/>
          </a:xfrm>
          <a:prstGeom prst="rect">
            <a:avLst/>
          </a:prstGeom>
          <a:noFill/>
          <a:ln/>
        </p:spPr>
        <p:txBody>
          <a:bodyPr wrap="square" lIns="0" tIns="0" rIns="0" bIns="0" rtlCol="0" anchor="ctr"/>
          <a:lstStyle/>
          <a:p>
            <a:pPr marL="0" indent="0">
              <a:buNone/>
            </a:pPr>
            <a:r>
              <a:rPr lang="en-US" sz="1500" b="1" dirty="0">
                <a:solidFill>
                  <a:srgbClr val="1E293B"/>
                </a:solidFill>
                <a:latin typeface="Trebuchet MS" pitchFamily="34" charset="0"/>
                <a:ea typeface="Trebuchet MS" pitchFamily="34" charset="-122"/>
                <a:cs typeface="Trebuchet MS" pitchFamily="34" charset="-120"/>
              </a:rPr>
              <a:t>Data &amp; EDA</a:t>
            </a:r>
            <a:endParaRPr lang="en-US" sz="1500" dirty="0"/>
          </a:p>
        </p:txBody>
      </p:sp>
      <p:sp>
        <p:nvSpPr>
          <p:cNvPr id="17" name="Text 15"/>
          <p:cNvSpPr/>
          <p:nvPr/>
        </p:nvSpPr>
        <p:spPr>
          <a:xfrm>
            <a:off x="960120" y="2706624"/>
            <a:ext cx="77724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Dataset overview and key visual findings</a:t>
            </a:r>
            <a:endParaRPr lang="en-US" sz="1200" dirty="0"/>
          </a:p>
        </p:txBody>
      </p:sp>
      <p:sp>
        <p:nvSpPr>
          <p:cNvPr id="18" name="Shape 16"/>
          <p:cNvSpPr/>
          <p:nvPr/>
        </p:nvSpPr>
        <p:spPr>
          <a:xfrm>
            <a:off x="320040" y="2980944"/>
            <a:ext cx="8503920" cy="0"/>
          </a:xfrm>
          <a:prstGeom prst="line">
            <a:avLst/>
          </a:prstGeom>
          <a:noFill/>
          <a:ln w="6350">
            <a:solidFill>
              <a:srgbClr val="D1D5DB"/>
            </a:solidFill>
            <a:prstDash val="solid"/>
          </a:ln>
        </p:spPr>
        <p:txBody>
          <a:bodyPr/>
          <a:lstStyle/>
          <a:p>
            <a:endParaRPr lang="en-US"/>
          </a:p>
        </p:txBody>
      </p:sp>
      <p:sp>
        <p:nvSpPr>
          <p:cNvPr id="19" name="Shape 17"/>
          <p:cNvSpPr/>
          <p:nvPr/>
        </p:nvSpPr>
        <p:spPr>
          <a:xfrm>
            <a:off x="320040" y="3218688"/>
            <a:ext cx="502920" cy="50292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20" name="Text 18"/>
          <p:cNvSpPr/>
          <p:nvPr/>
        </p:nvSpPr>
        <p:spPr>
          <a:xfrm>
            <a:off x="320040" y="3218688"/>
            <a:ext cx="502920" cy="502920"/>
          </a:xfrm>
          <a:prstGeom prst="rect">
            <a:avLst/>
          </a:prstGeom>
          <a:noFill/>
          <a:ln/>
        </p:spPr>
        <p:txBody>
          <a:bodyPr wrap="square" rtlCol="0" anchor="ctr"/>
          <a:lstStyle/>
          <a:p>
            <a:pPr marL="0" indent="0" algn="ctr">
              <a:buNone/>
            </a:pPr>
            <a:r>
              <a:rPr lang="en-US" sz="1600" b="1" dirty="0">
                <a:solidFill>
                  <a:srgbClr val="FFFFFF"/>
                </a:solidFill>
              </a:rPr>
              <a:t>04</a:t>
            </a:r>
            <a:endParaRPr lang="en-US" sz="1600" dirty="0"/>
          </a:p>
        </p:txBody>
      </p:sp>
      <p:sp>
        <p:nvSpPr>
          <p:cNvPr id="21" name="Text 19"/>
          <p:cNvSpPr/>
          <p:nvPr/>
        </p:nvSpPr>
        <p:spPr>
          <a:xfrm>
            <a:off x="960120" y="3218688"/>
            <a:ext cx="3474720" cy="274320"/>
          </a:xfrm>
          <a:prstGeom prst="rect">
            <a:avLst/>
          </a:prstGeom>
          <a:noFill/>
          <a:ln/>
        </p:spPr>
        <p:txBody>
          <a:bodyPr wrap="square" lIns="0" tIns="0" rIns="0" bIns="0" rtlCol="0" anchor="ctr"/>
          <a:lstStyle/>
          <a:p>
            <a:pPr marL="0" indent="0">
              <a:buNone/>
            </a:pPr>
            <a:r>
              <a:rPr lang="en-US" sz="1500" b="1" dirty="0">
                <a:solidFill>
                  <a:srgbClr val="1E293B"/>
                </a:solidFill>
                <a:latin typeface="Trebuchet MS" pitchFamily="34" charset="0"/>
                <a:ea typeface="Trebuchet MS" pitchFamily="34" charset="-122"/>
                <a:cs typeface="Trebuchet MS" pitchFamily="34" charset="-120"/>
              </a:rPr>
              <a:t>Predictive Models</a:t>
            </a:r>
            <a:endParaRPr lang="en-US" sz="1500" dirty="0"/>
          </a:p>
        </p:txBody>
      </p:sp>
      <p:sp>
        <p:nvSpPr>
          <p:cNvPr id="22" name="Text 20"/>
          <p:cNvSpPr/>
          <p:nvPr/>
        </p:nvSpPr>
        <p:spPr>
          <a:xfrm>
            <a:off x="960120" y="3474720"/>
            <a:ext cx="77724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Regression, Clustering, and KDE</a:t>
            </a:r>
            <a:endParaRPr lang="en-US" sz="1200" dirty="0"/>
          </a:p>
        </p:txBody>
      </p:sp>
      <p:sp>
        <p:nvSpPr>
          <p:cNvPr id="23" name="Shape 21"/>
          <p:cNvSpPr/>
          <p:nvPr/>
        </p:nvSpPr>
        <p:spPr>
          <a:xfrm>
            <a:off x="320040" y="3749040"/>
            <a:ext cx="8503920" cy="0"/>
          </a:xfrm>
          <a:prstGeom prst="line">
            <a:avLst/>
          </a:prstGeom>
          <a:noFill/>
          <a:ln w="6350">
            <a:solidFill>
              <a:srgbClr val="D1D5DB"/>
            </a:solidFill>
            <a:prstDash val="solid"/>
          </a:ln>
        </p:spPr>
        <p:txBody>
          <a:bodyPr/>
          <a:lstStyle/>
          <a:p>
            <a:endParaRPr lang="en-US"/>
          </a:p>
        </p:txBody>
      </p:sp>
      <p:sp>
        <p:nvSpPr>
          <p:cNvPr id="24" name="Shape 22"/>
          <p:cNvSpPr/>
          <p:nvPr/>
        </p:nvSpPr>
        <p:spPr>
          <a:xfrm>
            <a:off x="320040" y="3986784"/>
            <a:ext cx="502920" cy="50292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25" name="Text 23"/>
          <p:cNvSpPr/>
          <p:nvPr/>
        </p:nvSpPr>
        <p:spPr>
          <a:xfrm>
            <a:off x="320040" y="3986784"/>
            <a:ext cx="502920" cy="502920"/>
          </a:xfrm>
          <a:prstGeom prst="rect">
            <a:avLst/>
          </a:prstGeom>
          <a:noFill/>
          <a:ln/>
        </p:spPr>
        <p:txBody>
          <a:bodyPr wrap="square" rtlCol="0" anchor="ctr"/>
          <a:lstStyle/>
          <a:p>
            <a:pPr marL="0" indent="0" algn="ctr">
              <a:buNone/>
            </a:pPr>
            <a:r>
              <a:rPr lang="en-US" sz="1600" b="1" dirty="0">
                <a:solidFill>
                  <a:srgbClr val="FFFFFF"/>
                </a:solidFill>
              </a:rPr>
              <a:t>05</a:t>
            </a:r>
            <a:endParaRPr lang="en-US" sz="1600" dirty="0"/>
          </a:p>
        </p:txBody>
      </p:sp>
      <p:sp>
        <p:nvSpPr>
          <p:cNvPr id="26" name="Text 24"/>
          <p:cNvSpPr/>
          <p:nvPr/>
        </p:nvSpPr>
        <p:spPr>
          <a:xfrm>
            <a:off x="960120" y="3986784"/>
            <a:ext cx="3474720" cy="274320"/>
          </a:xfrm>
          <a:prstGeom prst="rect">
            <a:avLst/>
          </a:prstGeom>
          <a:noFill/>
          <a:ln/>
        </p:spPr>
        <p:txBody>
          <a:bodyPr wrap="square" lIns="0" tIns="0" rIns="0" bIns="0" rtlCol="0" anchor="ctr"/>
          <a:lstStyle/>
          <a:p>
            <a:pPr marL="0" indent="0">
              <a:buNone/>
            </a:pPr>
            <a:r>
              <a:rPr lang="en-US" sz="1500" b="1" dirty="0">
                <a:solidFill>
                  <a:srgbClr val="1E293B"/>
                </a:solidFill>
                <a:latin typeface="Trebuchet MS" pitchFamily="34" charset="0"/>
                <a:ea typeface="Trebuchet MS" pitchFamily="34" charset="-122"/>
                <a:cs typeface="Trebuchet MS" pitchFamily="34" charset="-120"/>
              </a:rPr>
              <a:t>Conclusions</a:t>
            </a:r>
            <a:endParaRPr lang="en-US" sz="1500" dirty="0"/>
          </a:p>
        </p:txBody>
      </p:sp>
      <p:sp>
        <p:nvSpPr>
          <p:cNvPr id="27" name="Text 25"/>
          <p:cNvSpPr/>
          <p:nvPr/>
        </p:nvSpPr>
        <p:spPr>
          <a:xfrm>
            <a:off x="960120" y="4242816"/>
            <a:ext cx="7772400" cy="2286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Key findings and future directions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Background</a:t>
            </a:r>
            <a:endParaRPr lang="en-US" sz="2600" dirty="0"/>
          </a:p>
        </p:txBody>
      </p:sp>
      <p:sp>
        <p:nvSpPr>
          <p:cNvPr id="4" name="Shape 2"/>
          <p:cNvSpPr/>
          <p:nvPr/>
        </p:nvSpPr>
        <p:spPr>
          <a:xfrm>
            <a:off x="320040" y="914400"/>
            <a:ext cx="4023360" cy="33832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502920" y="1051560"/>
            <a:ext cx="3657600" cy="365760"/>
          </a:xfrm>
          <a:prstGeom prst="rect">
            <a:avLst/>
          </a:prstGeom>
          <a:noFill/>
          <a:ln/>
        </p:spPr>
        <p:txBody>
          <a:bodyPr wrap="square" lIns="0" tIns="0" rIns="0" bIns="0" rtlCol="0" anchor="ctr"/>
          <a:lstStyle/>
          <a:p>
            <a:pPr marL="0" indent="0">
              <a:buNone/>
            </a:pPr>
            <a:r>
              <a:rPr lang="en-US" sz="1400" b="1" dirty="0">
                <a:solidFill>
                  <a:srgbClr val="1C7293"/>
                </a:solidFill>
                <a:latin typeface="Trebuchet MS" pitchFamily="34" charset="0"/>
                <a:ea typeface="Trebuchet MS" pitchFamily="34" charset="-122"/>
                <a:cs typeface="Trebuchet MS" pitchFamily="34" charset="-120"/>
              </a:rPr>
              <a:t>The Urban EMS Challenge</a:t>
            </a:r>
            <a:endParaRPr lang="en-US" sz="1400" dirty="0"/>
          </a:p>
        </p:txBody>
      </p:sp>
      <p:sp>
        <p:nvSpPr>
          <p:cNvPr id="6" name="Text 4"/>
          <p:cNvSpPr/>
          <p:nvPr/>
        </p:nvSpPr>
        <p:spPr>
          <a:xfrm>
            <a:off x="502920" y="1508760"/>
            <a:ext cx="3657600"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EMS speed is often the difference between life and death — especially for cardiac arrest, stroke, and trauma</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NYC's density, traffic, geography, and socioeconomic disparity all complicate response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Efficient, equitable service requires continuous data-driven evaluation</a:t>
            </a:r>
            <a:endParaRPr lang="en-US" sz="1300" dirty="0"/>
          </a:p>
        </p:txBody>
      </p:sp>
      <p:sp>
        <p:nvSpPr>
          <p:cNvPr id="7" name="Shape 5"/>
          <p:cNvSpPr/>
          <p:nvPr/>
        </p:nvSpPr>
        <p:spPr>
          <a:xfrm>
            <a:off x="4800600" y="914400"/>
            <a:ext cx="4023360" cy="338328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4983480" y="1051560"/>
            <a:ext cx="3657600" cy="365760"/>
          </a:xfrm>
          <a:prstGeom prst="rect">
            <a:avLst/>
          </a:prstGeom>
          <a:noFill/>
          <a:ln/>
        </p:spPr>
        <p:txBody>
          <a:bodyPr wrap="square" lIns="0" tIns="0" rIns="0" bIns="0" rtlCol="0" anchor="ctr"/>
          <a:lstStyle/>
          <a:p>
            <a:pPr marL="0" indent="0">
              <a:buNone/>
            </a:pPr>
            <a:r>
              <a:rPr lang="en-US" sz="1400" b="1" dirty="0">
                <a:solidFill>
                  <a:srgbClr val="C0392B"/>
                </a:solidFill>
                <a:latin typeface="Trebuchet MS" pitchFamily="34" charset="0"/>
                <a:ea typeface="Trebuchet MS" pitchFamily="34" charset="-122"/>
                <a:cs typeface="Trebuchet MS" pitchFamily="34" charset="-120"/>
              </a:rPr>
              <a:t>About the Dataset</a:t>
            </a:r>
            <a:endParaRPr lang="en-US" sz="1400" dirty="0"/>
          </a:p>
        </p:txBody>
      </p:sp>
      <p:sp>
        <p:nvSpPr>
          <p:cNvPr id="9" name="Text 7"/>
          <p:cNvSpPr/>
          <p:nvPr/>
        </p:nvSpPr>
        <p:spPr>
          <a:xfrm>
            <a:off x="4983480" y="1508760"/>
            <a:ext cx="3657600" cy="2560320"/>
          </a:xfrm>
          <a:prstGeom prst="rect">
            <a:avLst/>
          </a:prstGeom>
          <a:noFill/>
          <a:ln/>
        </p:spPr>
        <p:txBody>
          <a:bodyPr wrap="square" rtlCol="0" anchor="ctr"/>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Source: NYC FDNY EMS Computer Aided Dispatch (CAD) system via NYC Open Data</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Filtered: January 2023 – December 2025 (post-pandemic baseline)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Scale: 3.19 million incidents retained after filtering from 28.7M total rows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5 key columns selected: datetime, borough, call type, response seconds, ZIP code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0392B"/>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Research Questions</a:t>
            </a:r>
            <a:endParaRPr lang="en-US" sz="2600" dirty="0"/>
          </a:p>
        </p:txBody>
      </p:sp>
      <p:sp>
        <p:nvSpPr>
          <p:cNvPr id="4" name="Shape 2"/>
          <p:cNvSpPr/>
          <p:nvPr/>
        </p:nvSpPr>
        <p:spPr>
          <a:xfrm>
            <a:off x="320040" y="1005840"/>
            <a:ext cx="8503920" cy="1005840"/>
          </a:xfrm>
          <a:prstGeom prst="rect">
            <a:avLst/>
          </a:prstGeom>
          <a:solidFill>
            <a:srgbClr val="FFFFFF">
              <a:alpha val="92000"/>
            </a:srgbClr>
          </a:solidFill>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1005840"/>
            <a:ext cx="91440" cy="1005840"/>
          </a:xfrm>
          <a:prstGeom prst="rect">
            <a:avLst/>
          </a:prstGeom>
          <a:solidFill>
            <a:srgbClr val="1C7293"/>
          </a:solidFill>
          <a:ln/>
        </p:spPr>
        <p:txBody>
          <a:bodyPr/>
          <a:lstStyle/>
          <a:p>
            <a:endParaRPr lang="en-US"/>
          </a:p>
        </p:txBody>
      </p:sp>
      <p:sp>
        <p:nvSpPr>
          <p:cNvPr id="6" name="Text 4"/>
          <p:cNvSpPr/>
          <p:nvPr/>
        </p:nvSpPr>
        <p:spPr>
          <a:xfrm>
            <a:off x="502920" y="1005840"/>
            <a:ext cx="457200" cy="1005840"/>
          </a:xfrm>
          <a:prstGeom prst="rect">
            <a:avLst/>
          </a:prstGeom>
          <a:noFill/>
          <a:ln/>
        </p:spPr>
        <p:txBody>
          <a:bodyPr wrap="square" lIns="0" tIns="0" rIns="0" bIns="0" rtlCol="0" anchor="ctr"/>
          <a:lstStyle/>
          <a:p>
            <a:pPr marL="0" indent="0" algn="ctr">
              <a:buNone/>
            </a:pPr>
            <a:r>
              <a:rPr lang="en-US" sz="2800" b="1" dirty="0">
                <a:solidFill>
                  <a:srgbClr val="1C7293"/>
                </a:solidFill>
              </a:rPr>
              <a:t>Q1</a:t>
            </a:r>
            <a:endParaRPr lang="en-US" sz="2800" dirty="0"/>
          </a:p>
        </p:txBody>
      </p:sp>
      <p:sp>
        <p:nvSpPr>
          <p:cNvPr id="7" name="Text 5"/>
          <p:cNvSpPr/>
          <p:nvPr/>
        </p:nvSpPr>
        <p:spPr>
          <a:xfrm>
            <a:off x="1051560" y="1097280"/>
            <a:ext cx="7589520" cy="822960"/>
          </a:xfrm>
          <a:prstGeom prst="rect">
            <a:avLst/>
          </a:prstGeom>
          <a:noFill/>
          <a:ln/>
        </p:spPr>
        <p:txBody>
          <a:bodyPr wrap="square" rtlCol="0" anchor="ctr"/>
          <a:lstStyle/>
          <a:p>
            <a:pPr marL="0" indent="0">
              <a:buNone/>
            </a:pPr>
            <a:r>
              <a:rPr lang="en-US" sz="1500" dirty="0">
                <a:latin typeface="Calibri" pitchFamily="34" charset="0"/>
                <a:ea typeface="Calibri" pitchFamily="34" charset="-122"/>
                <a:cs typeface="Calibri" pitchFamily="34" charset="-120"/>
              </a:rPr>
              <a:t>How is EMS call volume distributed across NYC's five boroughs and over time?</a:t>
            </a:r>
            <a:endParaRPr lang="en-US" sz="1500" dirty="0"/>
          </a:p>
        </p:txBody>
      </p:sp>
      <p:sp>
        <p:nvSpPr>
          <p:cNvPr id="8" name="Shape 6"/>
          <p:cNvSpPr/>
          <p:nvPr/>
        </p:nvSpPr>
        <p:spPr>
          <a:xfrm>
            <a:off x="320040" y="2240280"/>
            <a:ext cx="8503920" cy="1005840"/>
          </a:xfrm>
          <a:prstGeom prst="rect">
            <a:avLst/>
          </a:prstGeom>
          <a:solidFill>
            <a:srgbClr val="FFFFFF">
              <a:alpha val="92000"/>
            </a:srgbClr>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20040" y="2240280"/>
            <a:ext cx="91440" cy="1005840"/>
          </a:xfrm>
          <a:prstGeom prst="rect">
            <a:avLst/>
          </a:prstGeom>
          <a:solidFill>
            <a:srgbClr val="E8A020"/>
          </a:solidFill>
          <a:ln/>
        </p:spPr>
        <p:txBody>
          <a:bodyPr/>
          <a:lstStyle/>
          <a:p>
            <a:endParaRPr lang="en-US"/>
          </a:p>
        </p:txBody>
      </p:sp>
      <p:sp>
        <p:nvSpPr>
          <p:cNvPr id="10" name="Text 8"/>
          <p:cNvSpPr/>
          <p:nvPr/>
        </p:nvSpPr>
        <p:spPr>
          <a:xfrm>
            <a:off x="502920" y="2240280"/>
            <a:ext cx="457200" cy="1005840"/>
          </a:xfrm>
          <a:prstGeom prst="rect">
            <a:avLst/>
          </a:prstGeom>
          <a:noFill/>
          <a:ln/>
        </p:spPr>
        <p:txBody>
          <a:bodyPr wrap="square" lIns="0" tIns="0" rIns="0" bIns="0" rtlCol="0" anchor="ctr"/>
          <a:lstStyle/>
          <a:p>
            <a:pPr marL="0" indent="0" algn="ctr">
              <a:buNone/>
            </a:pPr>
            <a:r>
              <a:rPr lang="en-US" sz="2800" b="1" dirty="0">
                <a:solidFill>
                  <a:srgbClr val="E8A020"/>
                </a:solidFill>
              </a:rPr>
              <a:t>Q2</a:t>
            </a:r>
            <a:endParaRPr lang="en-US" sz="2800" dirty="0"/>
          </a:p>
        </p:txBody>
      </p:sp>
      <p:sp>
        <p:nvSpPr>
          <p:cNvPr id="11" name="Text 9"/>
          <p:cNvSpPr/>
          <p:nvPr/>
        </p:nvSpPr>
        <p:spPr>
          <a:xfrm>
            <a:off x="1051560" y="2331720"/>
            <a:ext cx="7589520" cy="822960"/>
          </a:xfrm>
          <a:prstGeom prst="rect">
            <a:avLst/>
          </a:prstGeom>
          <a:noFill/>
          <a:ln/>
        </p:spPr>
        <p:txBody>
          <a:bodyPr wrap="square" rtlCol="0" anchor="ctr"/>
          <a:lstStyle/>
          <a:p>
            <a:pPr marL="0" indent="0">
              <a:buNone/>
            </a:pPr>
            <a:r>
              <a:rPr lang="en-US" sz="1500" dirty="0">
                <a:latin typeface="Calibri" pitchFamily="34" charset="0"/>
                <a:ea typeface="Calibri" pitchFamily="34" charset="-122"/>
                <a:cs typeface="Calibri" pitchFamily="34" charset="-120"/>
              </a:rPr>
              <a:t>What factors are most strongly associated with longer EMS response times?</a:t>
            </a:r>
            <a:endParaRPr lang="en-US" sz="1500" dirty="0"/>
          </a:p>
        </p:txBody>
      </p:sp>
      <p:sp>
        <p:nvSpPr>
          <p:cNvPr id="12" name="Shape 10"/>
          <p:cNvSpPr/>
          <p:nvPr/>
        </p:nvSpPr>
        <p:spPr>
          <a:xfrm>
            <a:off x="320040" y="3474720"/>
            <a:ext cx="8503920" cy="1005840"/>
          </a:xfrm>
          <a:prstGeom prst="rect">
            <a:avLst/>
          </a:prstGeom>
          <a:solidFill>
            <a:srgbClr val="FFFFFF">
              <a:alpha val="92000"/>
            </a:srgbClr>
          </a:solidFill>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20040" y="3474720"/>
            <a:ext cx="91440" cy="1005840"/>
          </a:xfrm>
          <a:prstGeom prst="rect">
            <a:avLst/>
          </a:prstGeom>
          <a:solidFill>
            <a:srgbClr val="C0392B"/>
          </a:solidFill>
          <a:ln/>
        </p:spPr>
        <p:txBody>
          <a:bodyPr/>
          <a:lstStyle/>
          <a:p>
            <a:endParaRPr lang="en-US"/>
          </a:p>
        </p:txBody>
      </p:sp>
      <p:sp>
        <p:nvSpPr>
          <p:cNvPr id="14" name="Text 12"/>
          <p:cNvSpPr/>
          <p:nvPr/>
        </p:nvSpPr>
        <p:spPr>
          <a:xfrm>
            <a:off x="502920" y="3474720"/>
            <a:ext cx="457200" cy="1005840"/>
          </a:xfrm>
          <a:prstGeom prst="rect">
            <a:avLst/>
          </a:prstGeom>
          <a:noFill/>
          <a:ln/>
        </p:spPr>
        <p:txBody>
          <a:bodyPr wrap="square" lIns="0" tIns="0" rIns="0" bIns="0" rtlCol="0" anchor="ctr"/>
          <a:lstStyle/>
          <a:p>
            <a:pPr marL="0" indent="0" algn="ctr">
              <a:buNone/>
            </a:pPr>
            <a:r>
              <a:rPr lang="en-US" sz="2800" b="1" dirty="0">
                <a:solidFill>
                  <a:srgbClr val="C0392B"/>
                </a:solidFill>
              </a:rPr>
              <a:t>Q3</a:t>
            </a:r>
            <a:endParaRPr lang="en-US" sz="2800" dirty="0"/>
          </a:p>
        </p:txBody>
      </p:sp>
      <p:sp>
        <p:nvSpPr>
          <p:cNvPr id="15" name="Text 13"/>
          <p:cNvSpPr/>
          <p:nvPr/>
        </p:nvSpPr>
        <p:spPr>
          <a:xfrm>
            <a:off x="1051560" y="3566160"/>
            <a:ext cx="7589520" cy="822960"/>
          </a:xfrm>
          <a:prstGeom prst="rect">
            <a:avLst/>
          </a:prstGeom>
          <a:noFill/>
          <a:ln/>
        </p:spPr>
        <p:txBody>
          <a:bodyPr wrap="square" rtlCol="0" anchor="ctr"/>
          <a:lstStyle/>
          <a:p>
            <a:pPr marL="0" indent="0">
              <a:buNone/>
            </a:pPr>
            <a:r>
              <a:rPr lang="en-US" sz="1500" dirty="0">
                <a:latin typeface="Calibri" pitchFamily="34" charset="0"/>
                <a:ea typeface="Calibri" pitchFamily="34" charset="-122"/>
                <a:cs typeface="Calibri" pitchFamily="34" charset="-120"/>
              </a:rPr>
              <a:t>Are there spatial or temporal patterns that signal resource allocation opportunities?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Exploratory Data Analysis — Data Overview</a:t>
            </a:r>
            <a:endParaRPr lang="en-US" sz="2400" dirty="0"/>
          </a:p>
        </p:txBody>
      </p:sp>
      <p:sp>
        <p:nvSpPr>
          <p:cNvPr id="4" name="Shape 2"/>
          <p:cNvSpPr/>
          <p:nvPr/>
        </p:nvSpPr>
        <p:spPr>
          <a:xfrm>
            <a:off x="320040" y="868680"/>
            <a:ext cx="1965960" cy="100584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320040" y="868680"/>
            <a:ext cx="1965960" cy="594360"/>
          </a:xfrm>
          <a:prstGeom prst="rect">
            <a:avLst/>
          </a:prstGeom>
          <a:noFill/>
          <a:ln/>
        </p:spPr>
        <p:txBody>
          <a:bodyPr wrap="square" rtlCol="0" anchor="b"/>
          <a:lstStyle/>
          <a:p>
            <a:pPr marL="0" indent="0" algn="ctr">
              <a:buNone/>
            </a:pPr>
            <a:r>
              <a:rPr lang="en-US" sz="2600" b="1" dirty="0">
                <a:solidFill>
                  <a:srgbClr val="FFFFFF"/>
                </a:solidFill>
              </a:rPr>
              <a:t>3.19M</a:t>
            </a:r>
            <a:endParaRPr lang="en-US" sz="2600" dirty="0"/>
          </a:p>
        </p:txBody>
      </p:sp>
      <p:sp>
        <p:nvSpPr>
          <p:cNvPr id="6" name="Text 4"/>
          <p:cNvSpPr/>
          <p:nvPr/>
        </p:nvSpPr>
        <p:spPr>
          <a:xfrm>
            <a:off x="320040" y="1389888"/>
            <a:ext cx="1965960" cy="411480"/>
          </a:xfrm>
          <a:prstGeom prst="rect">
            <a:avLst/>
          </a:prstGeom>
          <a:noFill/>
          <a:ln/>
        </p:spPr>
        <p:txBody>
          <a:bodyPr wrap="square" rtlCol="0" anchor="t"/>
          <a:lstStyle/>
          <a:p>
            <a:pPr marL="0" indent="0" algn="ctr">
              <a:buNone/>
            </a:pPr>
            <a:r>
              <a:rPr lang="en-US" sz="1100" dirty="0">
                <a:solidFill>
                  <a:srgbClr val="D6E8F5"/>
                </a:solidFill>
                <a:latin typeface="Calibri" pitchFamily="34" charset="0"/>
                <a:ea typeface="Calibri" pitchFamily="34" charset="-122"/>
                <a:cs typeface="Calibri" pitchFamily="34" charset="-120"/>
              </a:rPr>
              <a:t>Incidents Analyzed</a:t>
            </a:r>
            <a:endParaRPr lang="en-US" sz="1100" dirty="0"/>
          </a:p>
        </p:txBody>
      </p:sp>
      <p:sp>
        <p:nvSpPr>
          <p:cNvPr id="7" name="Shape 5"/>
          <p:cNvSpPr/>
          <p:nvPr/>
        </p:nvSpPr>
        <p:spPr>
          <a:xfrm>
            <a:off x="2468880" y="868680"/>
            <a:ext cx="1965960" cy="1005840"/>
          </a:xfrm>
          <a:prstGeom prst="rect">
            <a:avLst/>
          </a:prstGeom>
          <a:solidFill>
            <a:srgbClr val="0A1628"/>
          </a:solid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2468880" y="868680"/>
            <a:ext cx="1965960" cy="594360"/>
          </a:xfrm>
          <a:prstGeom prst="rect">
            <a:avLst/>
          </a:prstGeom>
          <a:noFill/>
          <a:ln/>
        </p:spPr>
        <p:txBody>
          <a:bodyPr wrap="square" rtlCol="0" anchor="b"/>
          <a:lstStyle/>
          <a:p>
            <a:pPr marL="0" indent="0" algn="ctr">
              <a:buNone/>
            </a:pPr>
            <a:r>
              <a:rPr lang="en-US" sz="2600" b="1" dirty="0">
                <a:solidFill>
                  <a:srgbClr val="FFFFFF"/>
                </a:solidFill>
              </a:rPr>
              <a:t>2023–25</a:t>
            </a:r>
            <a:endParaRPr lang="en-US" sz="2600" dirty="0"/>
          </a:p>
        </p:txBody>
      </p:sp>
      <p:sp>
        <p:nvSpPr>
          <p:cNvPr id="9" name="Text 7"/>
          <p:cNvSpPr/>
          <p:nvPr/>
        </p:nvSpPr>
        <p:spPr>
          <a:xfrm>
            <a:off x="2468880" y="1389888"/>
            <a:ext cx="1965960" cy="411480"/>
          </a:xfrm>
          <a:prstGeom prst="rect">
            <a:avLst/>
          </a:prstGeom>
          <a:noFill/>
          <a:ln/>
        </p:spPr>
        <p:txBody>
          <a:bodyPr wrap="square" rtlCol="0" anchor="t"/>
          <a:lstStyle/>
          <a:p>
            <a:pPr marL="0" indent="0" algn="ctr">
              <a:buNone/>
            </a:pPr>
            <a:r>
              <a:rPr lang="en-US" sz="1100" dirty="0">
                <a:solidFill>
                  <a:srgbClr val="D6E8F5"/>
                </a:solidFill>
                <a:latin typeface="Calibri" pitchFamily="34" charset="0"/>
                <a:ea typeface="Calibri" pitchFamily="34" charset="-122"/>
                <a:cs typeface="Calibri" pitchFamily="34" charset="-120"/>
              </a:rPr>
              <a:t>Study Period</a:t>
            </a:r>
            <a:endParaRPr lang="en-US" sz="1100" dirty="0"/>
          </a:p>
        </p:txBody>
      </p:sp>
      <p:sp>
        <p:nvSpPr>
          <p:cNvPr id="10" name="Shape 8"/>
          <p:cNvSpPr/>
          <p:nvPr/>
        </p:nvSpPr>
        <p:spPr>
          <a:xfrm>
            <a:off x="4617720" y="868680"/>
            <a:ext cx="1965960" cy="100584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4617720" y="868680"/>
            <a:ext cx="1965960" cy="594360"/>
          </a:xfrm>
          <a:prstGeom prst="rect">
            <a:avLst/>
          </a:prstGeom>
          <a:noFill/>
          <a:ln/>
        </p:spPr>
        <p:txBody>
          <a:bodyPr wrap="square" rtlCol="0" anchor="b"/>
          <a:lstStyle/>
          <a:p>
            <a:pPr marL="0" indent="0" algn="ctr">
              <a:buNone/>
            </a:pPr>
            <a:r>
              <a:rPr lang="en-US" sz="2600" b="1" dirty="0">
                <a:solidFill>
                  <a:srgbClr val="FFFFFF"/>
                </a:solidFill>
              </a:rPr>
              <a:t>5</a:t>
            </a:r>
            <a:endParaRPr lang="en-US" sz="2600" dirty="0"/>
          </a:p>
        </p:txBody>
      </p:sp>
      <p:sp>
        <p:nvSpPr>
          <p:cNvPr id="12" name="Text 10"/>
          <p:cNvSpPr/>
          <p:nvPr/>
        </p:nvSpPr>
        <p:spPr>
          <a:xfrm>
            <a:off x="4617720" y="1389888"/>
            <a:ext cx="1965960" cy="411480"/>
          </a:xfrm>
          <a:prstGeom prst="rect">
            <a:avLst/>
          </a:prstGeom>
          <a:noFill/>
          <a:ln/>
        </p:spPr>
        <p:txBody>
          <a:bodyPr wrap="square" rtlCol="0" anchor="t"/>
          <a:lstStyle/>
          <a:p>
            <a:pPr marL="0" indent="0" algn="ctr">
              <a:buNone/>
            </a:pPr>
            <a:r>
              <a:rPr lang="en-US" sz="1100" dirty="0">
                <a:solidFill>
                  <a:srgbClr val="D6E8F5"/>
                </a:solidFill>
                <a:latin typeface="Calibri" pitchFamily="34" charset="0"/>
                <a:ea typeface="Calibri" pitchFamily="34" charset="-122"/>
                <a:cs typeface="Calibri" pitchFamily="34" charset="-120"/>
              </a:rPr>
              <a:t>Feature Columns Used</a:t>
            </a:r>
            <a:endParaRPr lang="en-US" sz="1100" dirty="0"/>
          </a:p>
        </p:txBody>
      </p:sp>
      <p:sp>
        <p:nvSpPr>
          <p:cNvPr id="13" name="Shape 11"/>
          <p:cNvSpPr/>
          <p:nvPr/>
        </p:nvSpPr>
        <p:spPr>
          <a:xfrm>
            <a:off x="6766560" y="868680"/>
            <a:ext cx="1965960" cy="1005840"/>
          </a:xfrm>
          <a:prstGeom prst="rect">
            <a:avLst/>
          </a:prstGeom>
          <a:solidFill>
            <a:srgbClr val="0A1628"/>
          </a:solid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6766560" y="868680"/>
            <a:ext cx="1965960" cy="594360"/>
          </a:xfrm>
          <a:prstGeom prst="rect">
            <a:avLst/>
          </a:prstGeom>
          <a:noFill/>
          <a:ln/>
        </p:spPr>
        <p:txBody>
          <a:bodyPr wrap="square" rtlCol="0" anchor="b"/>
          <a:lstStyle/>
          <a:p>
            <a:pPr marL="0" indent="0" algn="ctr">
              <a:buNone/>
            </a:pPr>
            <a:r>
              <a:rPr lang="en-US" sz="2600" b="1" dirty="0">
                <a:solidFill>
                  <a:srgbClr val="FFFFFF"/>
                </a:solidFill>
              </a:rPr>
              <a:t>120 min</a:t>
            </a:r>
            <a:endParaRPr lang="en-US" sz="2600" dirty="0"/>
          </a:p>
        </p:txBody>
      </p:sp>
      <p:sp>
        <p:nvSpPr>
          <p:cNvPr id="15" name="Text 13"/>
          <p:cNvSpPr/>
          <p:nvPr/>
        </p:nvSpPr>
        <p:spPr>
          <a:xfrm>
            <a:off x="6766560" y="1389888"/>
            <a:ext cx="1965960" cy="411480"/>
          </a:xfrm>
          <a:prstGeom prst="rect">
            <a:avLst/>
          </a:prstGeom>
          <a:noFill/>
          <a:ln/>
        </p:spPr>
        <p:txBody>
          <a:bodyPr wrap="square" rtlCol="0" anchor="t"/>
          <a:lstStyle/>
          <a:p>
            <a:pPr marL="0" indent="0" algn="ctr">
              <a:buNone/>
            </a:pPr>
            <a:r>
              <a:rPr lang="en-US" sz="1100" dirty="0">
                <a:solidFill>
                  <a:srgbClr val="D6E8F5"/>
                </a:solidFill>
                <a:latin typeface="Calibri" pitchFamily="34" charset="0"/>
                <a:ea typeface="Calibri" pitchFamily="34" charset="-122"/>
                <a:cs typeface="Calibri" pitchFamily="34" charset="-120"/>
              </a:rPr>
              <a:t>Response Time Cap</a:t>
            </a:r>
            <a:endParaRPr lang="en-US" sz="1100" dirty="0"/>
          </a:p>
        </p:txBody>
      </p:sp>
      <p:sp>
        <p:nvSpPr>
          <p:cNvPr id="16" name="Shape 14"/>
          <p:cNvSpPr/>
          <p:nvPr/>
        </p:nvSpPr>
        <p:spPr>
          <a:xfrm>
            <a:off x="320040" y="2057400"/>
            <a:ext cx="8503920" cy="22860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7" name="Text 15"/>
          <p:cNvSpPr/>
          <p:nvPr/>
        </p:nvSpPr>
        <p:spPr>
          <a:xfrm>
            <a:off x="502920" y="2194560"/>
            <a:ext cx="8046720" cy="320040"/>
          </a:xfrm>
          <a:prstGeom prst="rect">
            <a:avLst/>
          </a:prstGeom>
          <a:noFill/>
          <a:ln/>
        </p:spPr>
        <p:txBody>
          <a:bodyPr wrap="square" lIns="0" tIns="0" rIns="0" bIns="0" rtlCol="0" anchor="ctr"/>
          <a:lstStyle/>
          <a:p>
            <a:pPr marL="0" indent="0">
              <a:buNone/>
            </a:pPr>
            <a:r>
              <a:rPr lang="en-US" sz="1400" b="1" dirty="0">
                <a:solidFill>
                  <a:srgbClr val="1C7293"/>
                </a:solidFill>
                <a:latin typeface="Trebuchet MS" pitchFamily="34" charset="0"/>
                <a:ea typeface="Trebuchet MS" pitchFamily="34" charset="-122"/>
                <a:cs typeface="Trebuchet MS" pitchFamily="34" charset="-120"/>
              </a:rPr>
              <a:t>Data Preparation</a:t>
            </a:r>
            <a:endParaRPr lang="en-US" sz="1400" dirty="0"/>
          </a:p>
        </p:txBody>
      </p:sp>
      <p:sp>
        <p:nvSpPr>
          <p:cNvPr id="18" name="Text 16"/>
          <p:cNvSpPr/>
          <p:nvPr/>
        </p:nvSpPr>
        <p:spPr>
          <a:xfrm>
            <a:off x="502920" y="2578608"/>
            <a:ext cx="8046720" cy="1627632"/>
          </a:xfrm>
          <a:prstGeom prst="rect">
            <a:avLst/>
          </a:prstGeom>
          <a:noFill/>
          <a:ln/>
        </p:spPr>
        <p:txBody>
          <a:bodyPr wrap="square" rtlCol="0" anchor="ctr"/>
          <a:lstStyle/>
          <a:p>
            <a:pPr marL="342900" indent="-342900">
              <a:spcAft>
                <a:spcPts val="400"/>
              </a:spcAft>
              <a:buSzPct val="100000"/>
              <a:buChar char="•"/>
            </a:pPr>
            <a:r>
              <a:rPr lang="en-US" sz="1250" dirty="0">
                <a:solidFill>
                  <a:srgbClr val="1E293B"/>
                </a:solidFill>
                <a:latin typeface="Calibri" pitchFamily="34" charset="0"/>
                <a:ea typeface="Calibri" pitchFamily="34" charset="-122"/>
                <a:cs typeface="Calibri" pitchFamily="34" charset="-120"/>
              </a:rPr>
              <a:t>Timestamp parsed with explicit format string to prevent inference warnings</a:t>
            </a:r>
            <a:endParaRPr lang="en-US" sz="1250" dirty="0"/>
          </a:p>
          <a:p>
            <a:pPr marL="342900" indent="-342900">
              <a:spcAft>
                <a:spcPts val="400"/>
              </a:spcAft>
              <a:buSzPct val="100000"/>
              <a:buChar char="•"/>
            </a:pPr>
            <a:r>
              <a:rPr lang="en-US" sz="1250" dirty="0">
                <a:solidFill>
                  <a:srgbClr val="1E293B"/>
                </a:solidFill>
                <a:latin typeface="Calibri" pitchFamily="34" charset="0"/>
                <a:ea typeface="Calibri" pitchFamily="34" charset="-122"/>
                <a:cs typeface="Calibri" pitchFamily="34" charset="-120"/>
              </a:rPr>
              <a:t>Response times ≤ 0 excluded (likely CAD positioning errors); times &gt; 120 min excluded as outliers</a:t>
            </a:r>
            <a:endParaRPr lang="en-US" sz="1250" dirty="0"/>
          </a:p>
          <a:p>
            <a:pPr marL="342900" indent="-342900">
              <a:spcAft>
                <a:spcPts val="400"/>
              </a:spcAft>
              <a:buSzPct val="100000"/>
              <a:buChar char="•"/>
            </a:pPr>
            <a:r>
              <a:rPr lang="en-US" sz="1250" dirty="0">
                <a:solidFill>
                  <a:srgbClr val="1E293B"/>
                </a:solidFill>
                <a:latin typeface="Calibri" pitchFamily="34" charset="0"/>
                <a:ea typeface="Calibri" pitchFamily="34" charset="-122"/>
                <a:cs typeface="Calibri" pitchFamily="34" charset="-120"/>
              </a:rPr>
              <a:t>Derived time features added: HOUR, DAY_OF_WEEK, MONTH, YEAR, RESPONSE_TIME_MIN</a:t>
            </a:r>
            <a:endParaRPr lang="en-US" sz="1250" dirty="0"/>
          </a:p>
          <a:p>
            <a:pPr marL="342900" indent="-342900">
              <a:spcAft>
                <a:spcPts val="400"/>
              </a:spcAft>
              <a:buSzPct val="100000"/>
              <a:buChar char="•"/>
            </a:pPr>
            <a:r>
              <a:rPr lang="en-US" sz="1250" dirty="0">
                <a:solidFill>
                  <a:srgbClr val="1E293B"/>
                </a:solidFill>
                <a:latin typeface="Calibri" pitchFamily="34" charset="0"/>
                <a:ea typeface="Calibri" pitchFamily="34" charset="-122"/>
                <a:cs typeface="Calibri" pitchFamily="34" charset="-120"/>
              </a:rPr>
              <a:t>ZIP code had elevated missing data rate — spatial analysis kept at borough level</a:t>
            </a:r>
            <a:endParaRPr lang="en-US" sz="1250" dirty="0"/>
          </a:p>
          <a:p>
            <a:pPr marL="342900" indent="-342900">
              <a:spcAft>
                <a:spcPts val="400"/>
              </a:spcAft>
              <a:buSzPct val="100000"/>
              <a:buChar char="•"/>
            </a:pPr>
            <a:r>
              <a:rPr lang="en-US" sz="1250" dirty="0">
                <a:solidFill>
                  <a:srgbClr val="1E293B"/>
                </a:solidFill>
                <a:latin typeface="Calibri" pitchFamily="34" charset="0"/>
                <a:ea typeface="Calibri" pitchFamily="34" charset="-122"/>
                <a:cs typeface="Calibri" pitchFamily="34" charset="-120"/>
              </a:rPr>
              <a:t>Missing data assessment used a custom function; borough and call type fields were near-complete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a:extLst>
            <a:ext uri="{FF2B5EF4-FFF2-40B4-BE49-F238E27FC236}">
              <a16:creationId xmlns:a16="http://schemas.microsoft.com/office/drawing/2014/main" id="{7988D2FE-25D8-2E2A-B7DD-D4C0D8A9CA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1F89911-9D39-9D74-3AB7-0678122C021F}"/>
              </a:ext>
            </a:extLst>
          </p:cNvPr>
          <p:cNvSpPr/>
          <p:nvPr/>
        </p:nvSpPr>
        <p:spPr>
          <a:xfrm>
            <a:off x="0" y="0"/>
            <a:ext cx="9144000" cy="685800"/>
          </a:xfrm>
          <a:prstGeom prst="rect">
            <a:avLst/>
          </a:prstGeom>
          <a:solidFill>
            <a:srgbClr val="0A1628"/>
          </a:solidFill>
          <a:ln/>
        </p:spPr>
        <p:txBody>
          <a:bodyPr/>
          <a:lstStyle/>
          <a:p>
            <a:endParaRPr lang="en-US"/>
          </a:p>
        </p:txBody>
      </p:sp>
      <p:sp>
        <p:nvSpPr>
          <p:cNvPr id="3" name="Text 1">
            <a:extLst>
              <a:ext uri="{FF2B5EF4-FFF2-40B4-BE49-F238E27FC236}">
                <a16:creationId xmlns:a16="http://schemas.microsoft.com/office/drawing/2014/main" id="{6C731493-3096-C33C-C244-6D77389C17D7}"/>
              </a:ext>
            </a:extLst>
          </p:cNvPr>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Exploratory Data Analysis — Data Overview</a:t>
            </a:r>
            <a:endParaRPr lang="en-US" sz="2400" dirty="0"/>
          </a:p>
        </p:txBody>
      </p:sp>
      <p:pic>
        <p:nvPicPr>
          <p:cNvPr id="19" name="Picture 18">
            <a:extLst>
              <a:ext uri="{FF2B5EF4-FFF2-40B4-BE49-F238E27FC236}">
                <a16:creationId xmlns:a16="http://schemas.microsoft.com/office/drawing/2014/main" id="{C23E9E8A-5431-6553-F469-614BB9B05BB3}"/>
              </a:ext>
            </a:extLst>
          </p:cNvPr>
          <p:cNvPicPr>
            <a:picLocks noChangeAspect="1"/>
          </p:cNvPicPr>
          <p:nvPr/>
        </p:nvPicPr>
        <p:blipFill>
          <a:blip r:embed="rId3"/>
          <a:stretch>
            <a:fillRect/>
          </a:stretch>
        </p:blipFill>
        <p:spPr>
          <a:xfrm>
            <a:off x="2286002" y="861530"/>
            <a:ext cx="4206240" cy="1379611"/>
          </a:xfrm>
          <a:prstGeom prst="rect">
            <a:avLst/>
          </a:prstGeom>
          <a:solidFill>
            <a:srgbClr val="FFFFFF"/>
          </a:solidFill>
          <a:ln/>
          <a:effectLst>
            <a:outerShdw blurRad="50800" dist="38100" dir="8100000" algn="tr" rotWithShape="0">
              <a:prstClr val="black">
                <a:alpha val="40000"/>
              </a:prstClr>
            </a:outerShdw>
          </a:effectLst>
        </p:spPr>
      </p:pic>
      <p:pic>
        <p:nvPicPr>
          <p:cNvPr id="20" name="Picture 19">
            <a:extLst>
              <a:ext uri="{FF2B5EF4-FFF2-40B4-BE49-F238E27FC236}">
                <a16:creationId xmlns:a16="http://schemas.microsoft.com/office/drawing/2014/main" id="{8CC82A94-D0AF-6852-02E2-AA93DDD4F199}"/>
              </a:ext>
            </a:extLst>
          </p:cNvPr>
          <p:cNvPicPr>
            <a:picLocks noChangeAspect="1"/>
          </p:cNvPicPr>
          <p:nvPr/>
        </p:nvPicPr>
        <p:blipFill>
          <a:blip r:embed="rId4"/>
          <a:stretch>
            <a:fillRect/>
          </a:stretch>
        </p:blipFill>
        <p:spPr>
          <a:xfrm>
            <a:off x="2286002" y="2342762"/>
            <a:ext cx="4206240" cy="2505648"/>
          </a:xfrm>
          <a:prstGeom prst="rect">
            <a:avLst/>
          </a:prstGeom>
          <a:solidFill>
            <a:srgbClr val="FFFFFF"/>
          </a:solidFill>
          <a:ln/>
          <a:effectLst>
            <a:outerShdw blurRad="50800" dist="38100" dir="8100000" algn="tr" rotWithShape="0">
              <a:prstClr val="black">
                <a:alpha val="40000"/>
              </a:prstClr>
            </a:outerShdw>
          </a:effectLst>
        </p:spPr>
      </p:pic>
      <p:sp>
        <p:nvSpPr>
          <p:cNvPr id="21" name="Shape 2">
            <a:extLst>
              <a:ext uri="{FF2B5EF4-FFF2-40B4-BE49-F238E27FC236}">
                <a16:creationId xmlns:a16="http://schemas.microsoft.com/office/drawing/2014/main" id="{599909B6-2A26-7FE6-F824-CC97F06679BF}"/>
              </a:ext>
            </a:extLst>
          </p:cNvPr>
          <p:cNvSpPr/>
          <p:nvPr/>
        </p:nvSpPr>
        <p:spPr>
          <a:xfrm>
            <a:off x="230587" y="861529"/>
            <a:ext cx="1920242" cy="1375947"/>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dirty="0"/>
          </a:p>
        </p:txBody>
      </p:sp>
      <p:sp>
        <p:nvSpPr>
          <p:cNvPr id="22" name="Text 3">
            <a:extLst>
              <a:ext uri="{FF2B5EF4-FFF2-40B4-BE49-F238E27FC236}">
                <a16:creationId xmlns:a16="http://schemas.microsoft.com/office/drawing/2014/main" id="{559D5EF4-B44F-CBAF-AA18-1E0053D8F8B5}"/>
              </a:ext>
            </a:extLst>
          </p:cNvPr>
          <p:cNvSpPr/>
          <p:nvPr/>
        </p:nvSpPr>
        <p:spPr>
          <a:xfrm>
            <a:off x="365760" y="1530749"/>
            <a:ext cx="1603183" cy="639726"/>
          </a:xfrm>
          <a:prstGeom prst="rect">
            <a:avLst/>
          </a:prstGeom>
          <a:noFill/>
          <a:ln/>
        </p:spPr>
        <p:txBody>
          <a:bodyPr wrap="square" rtlCol="0" anchor="b"/>
          <a:lstStyle/>
          <a:p>
            <a:pPr marL="0" indent="0" algn="ctr">
              <a:buNone/>
            </a:pPr>
            <a:r>
              <a:rPr lang="en-US" sz="2600" b="1" dirty="0">
                <a:solidFill>
                  <a:srgbClr val="FFFFFF"/>
                </a:solidFill>
              </a:rPr>
              <a:t>Incidents by Hour of Day</a:t>
            </a:r>
            <a:endParaRPr lang="en-US" sz="2600" dirty="0"/>
          </a:p>
        </p:txBody>
      </p:sp>
      <p:sp>
        <p:nvSpPr>
          <p:cNvPr id="24" name="Shape 5">
            <a:extLst>
              <a:ext uri="{FF2B5EF4-FFF2-40B4-BE49-F238E27FC236}">
                <a16:creationId xmlns:a16="http://schemas.microsoft.com/office/drawing/2014/main" id="{23D0DA5A-38CB-948E-DFA1-2A16DD817E96}"/>
              </a:ext>
            </a:extLst>
          </p:cNvPr>
          <p:cNvSpPr/>
          <p:nvPr/>
        </p:nvSpPr>
        <p:spPr>
          <a:xfrm>
            <a:off x="230587" y="2343153"/>
            <a:ext cx="1920242" cy="2445040"/>
          </a:xfrm>
          <a:prstGeom prst="rect">
            <a:avLst/>
          </a:prstGeom>
          <a:solidFill>
            <a:srgbClr val="0A1628"/>
          </a:solidFill>
          <a:ln/>
          <a:effectLst>
            <a:outerShdw blurRad="101600" dist="38100" dir="8100000" algn="bl" rotWithShape="0">
              <a:srgbClr val="000000">
                <a:alpha val="12000"/>
              </a:srgbClr>
            </a:outerShdw>
          </a:effectLst>
        </p:spPr>
        <p:txBody>
          <a:bodyPr/>
          <a:lstStyle/>
          <a:p>
            <a:endParaRPr lang="en-US"/>
          </a:p>
        </p:txBody>
      </p:sp>
      <p:sp>
        <p:nvSpPr>
          <p:cNvPr id="25" name="Text 6">
            <a:extLst>
              <a:ext uri="{FF2B5EF4-FFF2-40B4-BE49-F238E27FC236}">
                <a16:creationId xmlns:a16="http://schemas.microsoft.com/office/drawing/2014/main" id="{93E6887E-6A5F-3BAA-0086-8A762BB550CB}"/>
              </a:ext>
            </a:extLst>
          </p:cNvPr>
          <p:cNvSpPr/>
          <p:nvPr/>
        </p:nvSpPr>
        <p:spPr>
          <a:xfrm>
            <a:off x="207728" y="2432126"/>
            <a:ext cx="1965960" cy="1103243"/>
          </a:xfrm>
          <a:prstGeom prst="rect">
            <a:avLst/>
          </a:prstGeom>
          <a:noFill/>
          <a:ln/>
        </p:spPr>
        <p:txBody>
          <a:bodyPr wrap="square" rtlCol="0" anchor="b"/>
          <a:lstStyle/>
          <a:p>
            <a:pPr marL="0" indent="0" algn="ctr">
              <a:buNone/>
            </a:pPr>
            <a:r>
              <a:rPr lang="en-US" sz="2600" b="1" dirty="0">
                <a:solidFill>
                  <a:srgbClr val="FFFFFF"/>
                </a:solidFill>
              </a:rPr>
              <a:t>Call Type Analysis</a:t>
            </a:r>
            <a:endParaRPr lang="en-US" sz="2600" dirty="0"/>
          </a:p>
        </p:txBody>
      </p:sp>
      <p:sp>
        <p:nvSpPr>
          <p:cNvPr id="26" name="Text 7">
            <a:extLst>
              <a:ext uri="{FF2B5EF4-FFF2-40B4-BE49-F238E27FC236}">
                <a16:creationId xmlns:a16="http://schemas.microsoft.com/office/drawing/2014/main" id="{998BA81E-09A8-BDEF-B67F-72D9955575E9}"/>
              </a:ext>
            </a:extLst>
          </p:cNvPr>
          <p:cNvSpPr/>
          <p:nvPr/>
        </p:nvSpPr>
        <p:spPr>
          <a:xfrm>
            <a:off x="184869" y="3672015"/>
            <a:ext cx="1965960" cy="611256"/>
          </a:xfrm>
          <a:prstGeom prst="rect">
            <a:avLst/>
          </a:prstGeom>
          <a:noFill/>
          <a:ln/>
        </p:spPr>
        <p:txBody>
          <a:bodyPr wrap="square" rtlCol="0" anchor="t"/>
          <a:lstStyle/>
          <a:p>
            <a:pPr marL="0" indent="0" algn="ctr">
              <a:buNone/>
            </a:pPr>
            <a:r>
              <a:rPr lang="en-US" sz="2000" dirty="0">
                <a:solidFill>
                  <a:srgbClr val="D6E8F5"/>
                </a:solidFill>
                <a:latin typeface="Calibri" pitchFamily="34" charset="0"/>
                <a:ea typeface="Calibri" pitchFamily="34" charset="-122"/>
                <a:cs typeface="Calibri" pitchFamily="34" charset="-120"/>
              </a:rPr>
              <a:t>Top 20</a:t>
            </a:r>
          </a:p>
        </p:txBody>
      </p:sp>
      <p:sp>
        <p:nvSpPr>
          <p:cNvPr id="4" name="Shape 2">
            <a:extLst>
              <a:ext uri="{FF2B5EF4-FFF2-40B4-BE49-F238E27FC236}">
                <a16:creationId xmlns:a16="http://schemas.microsoft.com/office/drawing/2014/main" id="{6E16C9BC-2087-BE24-6F01-42639DDF0C11}"/>
              </a:ext>
            </a:extLst>
          </p:cNvPr>
          <p:cNvSpPr/>
          <p:nvPr/>
        </p:nvSpPr>
        <p:spPr>
          <a:xfrm>
            <a:off x="6577719" y="1303786"/>
            <a:ext cx="2381412" cy="3030824"/>
          </a:xfrm>
          <a:prstGeom prst="rect">
            <a:avLst/>
          </a:prstGeom>
          <a:solidFill>
            <a:srgbClr val="FFFFFF"/>
          </a:solidFill>
          <a:ln/>
          <a:effectLst>
            <a:outerShdw blurRad="50800" dist="38100" dir="8100000" algn="tr" rotWithShape="0">
              <a:prstClr val="black">
                <a:alpha val="40000"/>
              </a:prstClr>
            </a:outerShdw>
          </a:effectLst>
        </p:spPr>
        <p:txBody>
          <a:bodyPr/>
          <a:lstStyle/>
          <a:p>
            <a:endParaRPr lang="en-US" dirty="0"/>
          </a:p>
        </p:txBody>
      </p:sp>
      <p:sp>
        <p:nvSpPr>
          <p:cNvPr id="5" name="Text 4">
            <a:extLst>
              <a:ext uri="{FF2B5EF4-FFF2-40B4-BE49-F238E27FC236}">
                <a16:creationId xmlns:a16="http://schemas.microsoft.com/office/drawing/2014/main" id="{E64ECB53-F6EE-0362-91A4-7584D9995CB2}"/>
              </a:ext>
            </a:extLst>
          </p:cNvPr>
          <p:cNvSpPr/>
          <p:nvPr/>
        </p:nvSpPr>
        <p:spPr>
          <a:xfrm>
            <a:off x="6627415" y="1694993"/>
            <a:ext cx="2285998" cy="2417197"/>
          </a:xfrm>
          <a:prstGeom prst="rect">
            <a:avLst/>
          </a:prstGeom>
          <a:noFill/>
          <a:ln/>
        </p:spPr>
        <p:txBody>
          <a:bodyPr wrap="square" rtlCol="0" anchor="ctr"/>
          <a:lstStyle/>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Incident volume dips sharply in the early morning hours (2–5 AM), peaks around 11 AM</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Volumes are noticeably lower on weekends vs. weekdays (heatmap pattern)</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Top call types: Sick and Injury dominate; EDPM (psych), Other, and CVAC (stroke) follow</a:t>
            </a:r>
            <a:endParaRPr lang="en-US" sz="1150" dirty="0"/>
          </a:p>
        </p:txBody>
      </p:sp>
      <p:sp>
        <p:nvSpPr>
          <p:cNvPr id="6" name="Text 3">
            <a:extLst>
              <a:ext uri="{FF2B5EF4-FFF2-40B4-BE49-F238E27FC236}">
                <a16:creationId xmlns:a16="http://schemas.microsoft.com/office/drawing/2014/main" id="{FBF599F0-EFA8-E8A4-63F8-A243A0A9C3B8}"/>
              </a:ext>
            </a:extLst>
          </p:cNvPr>
          <p:cNvSpPr/>
          <p:nvPr/>
        </p:nvSpPr>
        <p:spPr>
          <a:xfrm>
            <a:off x="6732767" y="1374953"/>
            <a:ext cx="2071315" cy="320040"/>
          </a:xfrm>
          <a:prstGeom prst="rect">
            <a:avLst/>
          </a:prstGeom>
          <a:noFill/>
          <a:ln/>
        </p:spPr>
        <p:txBody>
          <a:bodyPr wrap="square" lIns="0" tIns="0" rIns="0" bIns="0" rtlCol="0" anchor="ctr"/>
          <a:lstStyle/>
          <a:p>
            <a:pPr marL="0" indent="0">
              <a:buNone/>
            </a:pPr>
            <a:r>
              <a:rPr lang="en-US" sz="1300" b="1" dirty="0">
                <a:solidFill>
                  <a:srgbClr val="1C7293"/>
                </a:solidFill>
                <a:latin typeface="Trebuchet MS" pitchFamily="34" charset="0"/>
                <a:ea typeface="Trebuchet MS" pitchFamily="34" charset="-122"/>
                <a:cs typeface="Trebuchet MS" pitchFamily="34" charset="-120"/>
              </a:rPr>
              <a:t>Key Observations</a:t>
            </a:r>
            <a:endParaRPr lang="en-US" sz="1300" dirty="0"/>
          </a:p>
        </p:txBody>
      </p:sp>
    </p:spTree>
    <p:extLst>
      <p:ext uri="{BB962C8B-B14F-4D97-AF65-F5344CB8AC3E}">
        <p14:creationId xmlns:p14="http://schemas.microsoft.com/office/powerpoint/2010/main" val="2385734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EDA — Call Volume Patterns</a:t>
            </a:r>
            <a:endParaRPr lang="en-US" sz="2400" dirty="0"/>
          </a:p>
        </p:txBody>
      </p:sp>
      <p:sp>
        <p:nvSpPr>
          <p:cNvPr id="5" name="Shape 2"/>
          <p:cNvSpPr/>
          <p:nvPr/>
        </p:nvSpPr>
        <p:spPr>
          <a:xfrm>
            <a:off x="5577840" y="1084856"/>
            <a:ext cx="3246120" cy="2973788"/>
          </a:xfrm>
          <a:prstGeom prst="rect">
            <a:avLst/>
          </a:prstGeom>
          <a:solidFill>
            <a:srgbClr val="FFFFFF"/>
          </a:solidFill>
          <a:ln/>
          <a:effectLst>
            <a:outerShdw blurRad="50800" dist="38100" dir="8100000" algn="tr" rotWithShape="0">
              <a:prstClr val="black">
                <a:alpha val="40000"/>
              </a:prstClr>
            </a:outerShdw>
          </a:effectLst>
        </p:spPr>
        <p:txBody>
          <a:bodyPr/>
          <a:lstStyle/>
          <a:p>
            <a:endParaRPr lang="en-US"/>
          </a:p>
        </p:txBody>
      </p:sp>
      <p:sp>
        <p:nvSpPr>
          <p:cNvPr id="6" name="Text 3"/>
          <p:cNvSpPr/>
          <p:nvPr/>
        </p:nvSpPr>
        <p:spPr>
          <a:xfrm>
            <a:off x="5760720" y="1211580"/>
            <a:ext cx="2880360" cy="320040"/>
          </a:xfrm>
          <a:prstGeom prst="rect">
            <a:avLst/>
          </a:prstGeom>
          <a:noFill/>
          <a:ln/>
        </p:spPr>
        <p:txBody>
          <a:bodyPr wrap="square" lIns="0" tIns="0" rIns="0" bIns="0" rtlCol="0" anchor="ctr"/>
          <a:lstStyle/>
          <a:p>
            <a:pPr marL="0" indent="0">
              <a:buNone/>
            </a:pPr>
            <a:r>
              <a:rPr lang="en-US" sz="1300" b="1" dirty="0">
                <a:solidFill>
                  <a:srgbClr val="1C7293"/>
                </a:solidFill>
                <a:latin typeface="Trebuchet MS" pitchFamily="34" charset="0"/>
                <a:ea typeface="Trebuchet MS" pitchFamily="34" charset="-122"/>
                <a:cs typeface="Trebuchet MS" pitchFamily="34" charset="-120"/>
              </a:rPr>
              <a:t>Key Observations</a:t>
            </a:r>
            <a:endParaRPr lang="en-US" sz="1300" dirty="0"/>
          </a:p>
        </p:txBody>
      </p:sp>
      <p:sp>
        <p:nvSpPr>
          <p:cNvPr id="7" name="Text 4"/>
          <p:cNvSpPr/>
          <p:nvPr/>
        </p:nvSpPr>
        <p:spPr>
          <a:xfrm>
            <a:off x="5760720" y="1371600"/>
            <a:ext cx="2926080" cy="2834640"/>
          </a:xfrm>
          <a:prstGeom prst="rect">
            <a:avLst/>
          </a:prstGeom>
          <a:noFill/>
          <a:ln/>
        </p:spPr>
        <p:txBody>
          <a:bodyPr wrap="square" rtlCol="0" anchor="ctr"/>
          <a:lstStyle/>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Brooklyn and Manhattan lead in total volume, consistent with population density</a:t>
            </a:r>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Bronx volumes are quite high per capita – population far smaller than Brooklyn or Manhattan</a:t>
            </a:r>
            <a:endParaRPr lang="en-US" sz="1150" dirty="0"/>
          </a:p>
          <a:p>
            <a:pPr marL="342900" indent="-342900">
              <a:spcAft>
                <a:spcPts val="500"/>
              </a:spcAft>
              <a:buSzPct val="100000"/>
              <a:buChar char="•"/>
            </a:pPr>
            <a:r>
              <a:rPr lang="en-US" sz="1150" dirty="0">
                <a:solidFill>
                  <a:srgbClr val="1E293B"/>
                </a:solidFill>
                <a:latin typeface="Calibri" pitchFamily="34" charset="0"/>
                <a:ea typeface="Calibri" pitchFamily="34" charset="-122"/>
                <a:cs typeface="Calibri" pitchFamily="34" charset="-120"/>
              </a:rPr>
              <a:t>Staten Island has by far the fewest calls — smallest population of the five boroughs</a:t>
            </a:r>
            <a:endParaRPr lang="en-US" sz="1150" dirty="0"/>
          </a:p>
        </p:txBody>
      </p:sp>
      <p:pic>
        <p:nvPicPr>
          <p:cNvPr id="9" name="Picture 8">
            <a:extLst>
              <a:ext uri="{FF2B5EF4-FFF2-40B4-BE49-F238E27FC236}">
                <a16:creationId xmlns:a16="http://schemas.microsoft.com/office/drawing/2014/main" id="{FDE46700-5D3B-C999-352A-381CFD35FD4D}"/>
              </a:ext>
            </a:extLst>
          </p:cNvPr>
          <p:cNvPicPr>
            <a:picLocks noChangeAspect="1"/>
          </p:cNvPicPr>
          <p:nvPr/>
        </p:nvPicPr>
        <p:blipFill>
          <a:blip r:embed="rId3"/>
          <a:stretch>
            <a:fillRect/>
          </a:stretch>
        </p:blipFill>
        <p:spPr>
          <a:xfrm>
            <a:off x="85836" y="1084856"/>
            <a:ext cx="5354844" cy="2973788"/>
          </a:xfrm>
          <a:prstGeom prst="rect">
            <a:avLst/>
          </a:prstGeom>
          <a:effectLst>
            <a:outerShdw blurRad="50800" dist="38100" dir="8100000" algn="tr"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EDA — Response Time by Borough</a:t>
            </a:r>
            <a:endParaRPr lang="en-US" sz="2400" dirty="0"/>
          </a:p>
        </p:txBody>
      </p:sp>
      <p:sp>
        <p:nvSpPr>
          <p:cNvPr id="5" name="Shape 2"/>
          <p:cNvSpPr/>
          <p:nvPr/>
        </p:nvSpPr>
        <p:spPr>
          <a:xfrm>
            <a:off x="5806440" y="822960"/>
            <a:ext cx="3017520" cy="1463040"/>
          </a:xfrm>
          <a:prstGeom prst="rect">
            <a:avLst/>
          </a:prstGeom>
          <a:solidFill>
            <a:srgbClr val="C0392B"/>
          </a:solidFill>
          <a:ln/>
          <a:effectLst>
            <a:outerShdw blurRad="101600" dist="38100" dir="8100000" algn="bl" rotWithShape="0">
              <a:srgbClr val="000000">
                <a:alpha val="12000"/>
              </a:srgbClr>
            </a:outerShdw>
          </a:effectLst>
        </p:spPr>
        <p:txBody>
          <a:bodyPr/>
          <a:lstStyle/>
          <a:p>
            <a:endParaRPr lang="en-US"/>
          </a:p>
        </p:txBody>
      </p:sp>
      <p:sp>
        <p:nvSpPr>
          <p:cNvPr id="6" name="Text 3"/>
          <p:cNvSpPr/>
          <p:nvPr/>
        </p:nvSpPr>
        <p:spPr>
          <a:xfrm>
            <a:off x="5989320" y="886968"/>
            <a:ext cx="265176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Kruskal-Wallis Test</a:t>
            </a:r>
            <a:endParaRPr lang="en-US" sz="1200" dirty="0"/>
          </a:p>
        </p:txBody>
      </p:sp>
      <p:sp>
        <p:nvSpPr>
          <p:cNvPr id="7" name="Text 4"/>
          <p:cNvSpPr/>
          <p:nvPr/>
        </p:nvSpPr>
        <p:spPr>
          <a:xfrm>
            <a:off x="5989320" y="1216152"/>
            <a:ext cx="2651760" cy="777240"/>
          </a:xfrm>
          <a:prstGeom prst="rect">
            <a:avLst/>
          </a:prstGeom>
          <a:noFill/>
          <a:ln/>
        </p:spPr>
        <p:txBody>
          <a:bodyPr wrap="square" rtlCol="0" anchor="ctr"/>
          <a:lstStyle/>
          <a:p>
            <a:pPr marL="0" indent="0" algn="ctr">
              <a:buNone/>
            </a:pPr>
            <a:r>
              <a:rPr lang="en-US" sz="1800" b="1" dirty="0">
                <a:solidFill>
                  <a:srgbClr val="FFFFFF"/>
                </a:solidFill>
              </a:rPr>
              <a:t>H = 11,448.46</a:t>
            </a:r>
            <a:endParaRPr lang="en-US" sz="1800" dirty="0"/>
          </a:p>
          <a:p>
            <a:pPr marL="0" indent="0" algn="ctr">
              <a:buNone/>
            </a:pPr>
            <a:r>
              <a:rPr lang="en-US" sz="1800" b="1" dirty="0">
                <a:solidFill>
                  <a:srgbClr val="FFFFFF"/>
                </a:solidFill>
              </a:rPr>
              <a:t>p ≈ 0.000</a:t>
            </a:r>
            <a:endParaRPr lang="en-US" sz="1800" dirty="0"/>
          </a:p>
        </p:txBody>
      </p:sp>
      <p:sp>
        <p:nvSpPr>
          <p:cNvPr id="8" name="Shape 5"/>
          <p:cNvSpPr/>
          <p:nvPr/>
        </p:nvSpPr>
        <p:spPr>
          <a:xfrm>
            <a:off x="5806440" y="2468880"/>
            <a:ext cx="3017520" cy="182880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Text 6"/>
          <p:cNvSpPr/>
          <p:nvPr/>
        </p:nvSpPr>
        <p:spPr>
          <a:xfrm>
            <a:off x="5943600" y="2578608"/>
            <a:ext cx="2743200" cy="274320"/>
          </a:xfrm>
          <a:prstGeom prst="rect">
            <a:avLst/>
          </a:prstGeom>
          <a:noFill/>
          <a:ln/>
        </p:spPr>
        <p:txBody>
          <a:bodyPr wrap="square" lIns="0" tIns="0" rIns="0" bIns="0" rtlCol="0" anchor="ctr"/>
          <a:lstStyle/>
          <a:p>
            <a:pPr marL="0" indent="0">
              <a:buNone/>
            </a:pPr>
            <a:r>
              <a:rPr lang="en-US" sz="1200" b="1" dirty="0">
                <a:solidFill>
                  <a:srgbClr val="1C7293"/>
                </a:solidFill>
                <a:latin typeface="Trebuchet MS" pitchFamily="34" charset="0"/>
                <a:ea typeface="Trebuchet MS" pitchFamily="34" charset="-122"/>
                <a:cs typeface="Trebuchet MS" pitchFamily="34" charset="-120"/>
              </a:rPr>
              <a:t>Takeaways</a:t>
            </a:r>
            <a:endParaRPr lang="en-US" sz="1200" dirty="0"/>
          </a:p>
        </p:txBody>
      </p:sp>
      <p:sp>
        <p:nvSpPr>
          <p:cNvPr id="10" name="Text 7"/>
          <p:cNvSpPr/>
          <p:nvPr/>
        </p:nvSpPr>
        <p:spPr>
          <a:xfrm>
            <a:off x="5943600" y="2898648"/>
            <a:ext cx="2743200" cy="1325880"/>
          </a:xfrm>
          <a:prstGeom prst="rect">
            <a:avLst/>
          </a:prstGeom>
          <a:noFill/>
          <a:ln/>
        </p:spPr>
        <p:txBody>
          <a:bodyPr wrap="square" rtlCol="0" anchor="ctr"/>
          <a:lstStyle/>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All 5 borough pairs are statistically significantly different (Bonferroni-corrected p &lt; 0.05)</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Differences are &lt;1 minute — but in EMS, seconds matter</a:t>
            </a:r>
            <a:endParaRPr lang="en-US" sz="1100" dirty="0"/>
          </a:p>
          <a:p>
            <a:pPr marL="342900" indent="-342900">
              <a:spcAft>
                <a:spcPts val="500"/>
              </a:spcAft>
              <a:buSzPct val="100000"/>
              <a:buChar char="•"/>
            </a:pPr>
            <a:r>
              <a:rPr lang="en-US" sz="1100" dirty="0">
                <a:solidFill>
                  <a:srgbClr val="1E293B"/>
                </a:solidFill>
                <a:latin typeface="Calibri" pitchFamily="34" charset="0"/>
                <a:ea typeface="Calibri" pitchFamily="34" charset="-122"/>
                <a:cs typeface="Calibri" pitchFamily="34" charset="-120"/>
              </a:rPr>
              <a:t>The Bronx is consistently the slowest borough</a:t>
            </a:r>
            <a:endParaRPr lang="en-US" sz="1100" dirty="0"/>
          </a:p>
        </p:txBody>
      </p:sp>
      <p:pic>
        <p:nvPicPr>
          <p:cNvPr id="12" name="Picture 11">
            <a:extLst>
              <a:ext uri="{FF2B5EF4-FFF2-40B4-BE49-F238E27FC236}">
                <a16:creationId xmlns:a16="http://schemas.microsoft.com/office/drawing/2014/main" id="{95A23A8C-1F17-D33C-A9E8-463E8D989DC8}"/>
              </a:ext>
            </a:extLst>
          </p:cNvPr>
          <p:cNvPicPr>
            <a:picLocks noChangeAspect="1"/>
          </p:cNvPicPr>
          <p:nvPr/>
        </p:nvPicPr>
        <p:blipFill>
          <a:blip r:embed="rId3"/>
          <a:stretch>
            <a:fillRect/>
          </a:stretch>
        </p:blipFill>
        <p:spPr>
          <a:xfrm>
            <a:off x="131197" y="1334964"/>
            <a:ext cx="5386020" cy="3127367"/>
          </a:xfrm>
          <a:prstGeom prst="rect">
            <a:avLst/>
          </a:prstGeom>
          <a:solidFill>
            <a:srgbClr val="FFFFFF"/>
          </a:solidFill>
          <a:ln/>
          <a:effectLst>
            <a:outerShdw blurRad="101600" dist="38100" dir="8100000" algn="bl" rotWithShape="0">
              <a:srgbClr val="000000">
                <a:alpha val="12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Model 1 — Multiple Linear Regression</a:t>
            </a:r>
            <a:endParaRPr lang="en-US" sz="2400" dirty="0"/>
          </a:p>
        </p:txBody>
      </p:sp>
      <p:sp>
        <p:nvSpPr>
          <p:cNvPr id="4" name="Shape 2"/>
          <p:cNvSpPr/>
          <p:nvPr/>
        </p:nvSpPr>
        <p:spPr>
          <a:xfrm>
            <a:off x="320040" y="841248"/>
            <a:ext cx="2011680" cy="105156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320040" y="841248"/>
            <a:ext cx="2011680" cy="384048"/>
          </a:xfrm>
          <a:prstGeom prst="rect">
            <a:avLst/>
          </a:prstGeom>
          <a:noFill/>
          <a:ln/>
        </p:spPr>
        <p:txBody>
          <a:bodyPr wrap="square" rtlCol="0" anchor="b"/>
          <a:lstStyle/>
          <a:p>
            <a:pPr marL="0" indent="0" algn="ctr">
              <a:buNone/>
            </a:pPr>
            <a:r>
              <a:rPr lang="en-US" sz="1300" b="1" dirty="0">
                <a:solidFill>
                  <a:srgbClr val="FFFFFF"/>
                </a:solidFill>
              </a:rPr>
              <a:t>RMSE</a:t>
            </a:r>
            <a:endParaRPr lang="en-US" sz="1300" dirty="0"/>
          </a:p>
        </p:txBody>
      </p:sp>
      <p:sp>
        <p:nvSpPr>
          <p:cNvPr id="6" name="Text 4"/>
          <p:cNvSpPr/>
          <p:nvPr/>
        </p:nvSpPr>
        <p:spPr>
          <a:xfrm>
            <a:off x="320040" y="1188720"/>
            <a:ext cx="2011680" cy="548640"/>
          </a:xfrm>
          <a:prstGeom prst="rect">
            <a:avLst/>
          </a:prstGeom>
          <a:noFill/>
          <a:ln/>
        </p:spPr>
        <p:txBody>
          <a:bodyPr wrap="square" rtlCol="0" anchor="ctr"/>
          <a:lstStyle/>
          <a:p>
            <a:pPr marL="0" indent="0" algn="ctr">
              <a:buNone/>
            </a:pPr>
            <a:r>
              <a:rPr lang="en-US" sz="2600" b="1" dirty="0">
                <a:solidFill>
                  <a:srgbClr val="FFFFFF"/>
                </a:solidFill>
              </a:rPr>
              <a:t>0.4163</a:t>
            </a:r>
            <a:endParaRPr lang="en-US" sz="2600" dirty="0"/>
          </a:p>
        </p:txBody>
      </p:sp>
      <p:sp>
        <p:nvSpPr>
          <p:cNvPr id="7" name="Shape 5"/>
          <p:cNvSpPr/>
          <p:nvPr/>
        </p:nvSpPr>
        <p:spPr>
          <a:xfrm>
            <a:off x="2514600" y="841248"/>
            <a:ext cx="2011680" cy="1051560"/>
          </a:xfrm>
          <a:prstGeom prst="rect">
            <a:avLst/>
          </a:prstGeom>
          <a:solidFill>
            <a:srgbClr val="C0392B"/>
          </a:solid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2514600" y="841248"/>
            <a:ext cx="2011680" cy="384048"/>
          </a:xfrm>
          <a:prstGeom prst="rect">
            <a:avLst/>
          </a:prstGeom>
          <a:noFill/>
          <a:ln/>
        </p:spPr>
        <p:txBody>
          <a:bodyPr wrap="square" rtlCol="0" anchor="b"/>
          <a:lstStyle/>
          <a:p>
            <a:pPr marL="0" indent="0" algn="ctr">
              <a:buNone/>
            </a:pPr>
            <a:r>
              <a:rPr lang="en-US" sz="1300" b="1" dirty="0">
                <a:solidFill>
                  <a:srgbClr val="FFFFFF"/>
                </a:solidFill>
              </a:rPr>
              <a:t>R²</a:t>
            </a:r>
            <a:endParaRPr lang="en-US" sz="1300" dirty="0"/>
          </a:p>
        </p:txBody>
      </p:sp>
      <p:sp>
        <p:nvSpPr>
          <p:cNvPr id="9" name="Text 7"/>
          <p:cNvSpPr/>
          <p:nvPr/>
        </p:nvSpPr>
        <p:spPr>
          <a:xfrm>
            <a:off x="2514600" y="1188720"/>
            <a:ext cx="2011680" cy="548640"/>
          </a:xfrm>
          <a:prstGeom prst="rect">
            <a:avLst/>
          </a:prstGeom>
          <a:noFill/>
          <a:ln/>
        </p:spPr>
        <p:txBody>
          <a:bodyPr wrap="square" rtlCol="0" anchor="ctr"/>
          <a:lstStyle/>
          <a:p>
            <a:pPr marL="0" indent="0" algn="ctr">
              <a:buNone/>
            </a:pPr>
            <a:r>
              <a:rPr lang="en-US" sz="2600" b="1" dirty="0">
                <a:solidFill>
                  <a:srgbClr val="FFFFFF"/>
                </a:solidFill>
              </a:rPr>
              <a:t>0.0013</a:t>
            </a:r>
            <a:endParaRPr lang="en-US" sz="2600" dirty="0"/>
          </a:p>
        </p:txBody>
      </p:sp>
      <p:sp>
        <p:nvSpPr>
          <p:cNvPr id="10" name="Shape 8"/>
          <p:cNvSpPr/>
          <p:nvPr/>
        </p:nvSpPr>
        <p:spPr>
          <a:xfrm>
            <a:off x="4709160" y="841248"/>
            <a:ext cx="4114800" cy="105156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4892040" y="841248"/>
            <a:ext cx="3749040" cy="1051560"/>
          </a:xfrm>
          <a:prstGeom prst="rect">
            <a:avLst/>
          </a:prstGeom>
          <a:noFill/>
          <a:ln/>
        </p:spPr>
        <p:txBody>
          <a:bodyPr wrap="square" rtlCol="0" anchor="ctr"/>
          <a:lstStyle/>
          <a:p>
            <a:pPr marL="0" indent="0">
              <a:buNone/>
            </a:pPr>
            <a:r>
              <a:rPr lang="en-US" sz="1300" dirty="0">
                <a:solidFill>
                  <a:srgbClr val="1E293B"/>
                </a:solidFill>
                <a:latin typeface="Calibri" pitchFamily="34" charset="0"/>
                <a:ea typeface="Calibri" pitchFamily="34" charset="-122"/>
                <a:cs typeface="Calibri" pitchFamily="34" charset="-120"/>
              </a:rPr>
              <a:t>Model explains only ~0.13% of variance in log-transformed response time</a:t>
            </a:r>
            <a:endParaRPr lang="en-US" sz="1300" dirty="0"/>
          </a:p>
        </p:txBody>
      </p:sp>
      <p:sp>
        <p:nvSpPr>
          <p:cNvPr id="12" name="Shape 10"/>
          <p:cNvSpPr/>
          <p:nvPr/>
        </p:nvSpPr>
        <p:spPr>
          <a:xfrm>
            <a:off x="320040" y="2057400"/>
            <a:ext cx="4160520" cy="2834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502920" y="2194560"/>
            <a:ext cx="3794760" cy="320040"/>
          </a:xfrm>
          <a:prstGeom prst="rect">
            <a:avLst/>
          </a:prstGeom>
          <a:noFill/>
          <a:ln/>
        </p:spPr>
        <p:txBody>
          <a:bodyPr wrap="square" lIns="0" tIns="0" rIns="0" bIns="0" rtlCol="0" anchor="ctr"/>
          <a:lstStyle/>
          <a:p>
            <a:pPr marL="0" indent="0">
              <a:buNone/>
            </a:pPr>
            <a:r>
              <a:rPr lang="en-US" sz="1300" b="1" dirty="0">
                <a:solidFill>
                  <a:srgbClr val="1C7293"/>
                </a:solidFill>
                <a:latin typeface="Trebuchet MS" pitchFamily="34" charset="0"/>
                <a:ea typeface="Trebuchet MS" pitchFamily="34" charset="-122"/>
                <a:cs typeface="Trebuchet MS" pitchFamily="34" charset="-120"/>
              </a:rPr>
              <a:t>Approach</a:t>
            </a:r>
            <a:endParaRPr lang="en-US" sz="1300" dirty="0"/>
          </a:p>
        </p:txBody>
      </p:sp>
      <p:sp>
        <p:nvSpPr>
          <p:cNvPr id="14" name="Text 12"/>
          <p:cNvSpPr/>
          <p:nvPr/>
        </p:nvSpPr>
        <p:spPr>
          <a:xfrm>
            <a:off x="502920" y="2578608"/>
            <a:ext cx="3794760" cy="2194560"/>
          </a:xfrm>
          <a:prstGeom prst="rect">
            <a:avLst/>
          </a:prstGeom>
          <a:noFill/>
          <a:ln/>
        </p:spPr>
        <p:txBody>
          <a:bodyPr wrap="square" rtlCol="0" anchor="ctr"/>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Predictors: BOROUGH, HOUR, DAY_OF_WEEK, FINAL_CALL_TYPE</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Log-transform applied to correct right-skew in response times</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80/20 train-test split with fixed random seed (42) for reproducibility</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Categorical variables label-encoded prior to fitting</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Evaluated using RMSE and R² on held-out test set</a:t>
            </a:r>
            <a:endParaRPr lang="en-US" sz="1250" dirty="0"/>
          </a:p>
        </p:txBody>
      </p:sp>
      <p:sp>
        <p:nvSpPr>
          <p:cNvPr id="15" name="Shape 13"/>
          <p:cNvSpPr/>
          <p:nvPr/>
        </p:nvSpPr>
        <p:spPr>
          <a:xfrm>
            <a:off x="4663440" y="2057400"/>
            <a:ext cx="4160520" cy="2834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6" name="Text 14"/>
          <p:cNvSpPr/>
          <p:nvPr/>
        </p:nvSpPr>
        <p:spPr>
          <a:xfrm>
            <a:off x="4846320" y="2194560"/>
            <a:ext cx="3794760" cy="320040"/>
          </a:xfrm>
          <a:prstGeom prst="rect">
            <a:avLst/>
          </a:prstGeom>
          <a:noFill/>
          <a:ln/>
        </p:spPr>
        <p:txBody>
          <a:bodyPr wrap="square" lIns="0" tIns="0" rIns="0" bIns="0" rtlCol="0" anchor="ctr"/>
          <a:lstStyle/>
          <a:p>
            <a:pPr marL="0" indent="0">
              <a:buNone/>
            </a:pPr>
            <a:r>
              <a:rPr lang="en-US" sz="1300" b="1" dirty="0">
                <a:solidFill>
                  <a:srgbClr val="C0392B"/>
                </a:solidFill>
                <a:latin typeface="Trebuchet MS" pitchFamily="34" charset="0"/>
                <a:ea typeface="Trebuchet MS" pitchFamily="34" charset="-122"/>
                <a:cs typeface="Trebuchet MS" pitchFamily="34" charset="-120"/>
              </a:rPr>
              <a:t>Interpretation</a:t>
            </a:r>
            <a:endParaRPr lang="en-US" sz="1300" dirty="0"/>
          </a:p>
        </p:txBody>
      </p:sp>
      <p:sp>
        <p:nvSpPr>
          <p:cNvPr id="17" name="Text 15"/>
          <p:cNvSpPr/>
          <p:nvPr/>
        </p:nvSpPr>
        <p:spPr>
          <a:xfrm>
            <a:off x="4846320" y="2578608"/>
            <a:ext cx="3794760" cy="2194560"/>
          </a:xfrm>
          <a:prstGeom prst="rect">
            <a:avLst/>
          </a:prstGeom>
          <a:noFill/>
          <a:ln/>
        </p:spPr>
        <p:txBody>
          <a:bodyPr wrap="square" rtlCol="0" anchor="ctr"/>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The low R² confirms that borough, hour, day, and call type alone cannot reliably predict response time</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EMS response is driven by many unmeasured factors: unit location at dispatch, traffic, building access, crew availability</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Despite poor fit, the model is still useful — it confirms that structural features like borough matter</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Future work: add unit GPS positions, weather, and traffic data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a:extLst>
            <a:ext uri="{FF2B5EF4-FFF2-40B4-BE49-F238E27FC236}">
              <a16:creationId xmlns:a16="http://schemas.microsoft.com/office/drawing/2014/main" id="{1BCCED66-F0F1-D380-AEDA-0809FE448CA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C73EA4-C16B-0503-67EC-8537D76816E4}"/>
              </a:ext>
            </a:extLst>
          </p:cNvPr>
          <p:cNvSpPr/>
          <p:nvPr/>
        </p:nvSpPr>
        <p:spPr>
          <a:xfrm>
            <a:off x="0" y="0"/>
            <a:ext cx="9144000" cy="685800"/>
          </a:xfrm>
          <a:prstGeom prst="rect">
            <a:avLst/>
          </a:prstGeom>
          <a:solidFill>
            <a:srgbClr val="0A1628"/>
          </a:solidFill>
          <a:ln/>
        </p:spPr>
        <p:txBody>
          <a:bodyPr/>
          <a:lstStyle/>
          <a:p>
            <a:endParaRPr lang="en-US"/>
          </a:p>
        </p:txBody>
      </p:sp>
      <p:sp>
        <p:nvSpPr>
          <p:cNvPr id="3" name="Text 1">
            <a:extLst>
              <a:ext uri="{FF2B5EF4-FFF2-40B4-BE49-F238E27FC236}">
                <a16:creationId xmlns:a16="http://schemas.microsoft.com/office/drawing/2014/main" id="{A47ACE2B-6C7D-58E1-C8BF-757A3EA4564E}"/>
              </a:ext>
            </a:extLst>
          </p:cNvPr>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Model 2 — K-Means Clustering</a:t>
            </a:r>
            <a:endParaRPr lang="en-US" sz="2400" dirty="0"/>
          </a:p>
        </p:txBody>
      </p:sp>
      <p:sp>
        <p:nvSpPr>
          <p:cNvPr id="4" name="Shape 2">
            <a:extLst>
              <a:ext uri="{FF2B5EF4-FFF2-40B4-BE49-F238E27FC236}">
                <a16:creationId xmlns:a16="http://schemas.microsoft.com/office/drawing/2014/main" id="{A9B88A18-06A6-56D9-A219-71BE07A90D23}"/>
              </a:ext>
            </a:extLst>
          </p:cNvPr>
          <p:cNvSpPr/>
          <p:nvPr/>
        </p:nvSpPr>
        <p:spPr>
          <a:xfrm>
            <a:off x="365760" y="960120"/>
            <a:ext cx="3496586" cy="344887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 name="Text 3">
            <a:extLst>
              <a:ext uri="{FF2B5EF4-FFF2-40B4-BE49-F238E27FC236}">
                <a16:creationId xmlns:a16="http://schemas.microsoft.com/office/drawing/2014/main" id="{A58278EC-E527-8BB5-6C38-16B7C4ADAD3C}"/>
              </a:ext>
            </a:extLst>
          </p:cNvPr>
          <p:cNvSpPr/>
          <p:nvPr/>
        </p:nvSpPr>
        <p:spPr>
          <a:xfrm>
            <a:off x="502920" y="960120"/>
            <a:ext cx="3794760" cy="320040"/>
          </a:xfrm>
          <a:prstGeom prst="rect">
            <a:avLst/>
          </a:prstGeom>
          <a:noFill/>
          <a:ln/>
        </p:spPr>
        <p:txBody>
          <a:bodyPr wrap="square" lIns="0" tIns="0" rIns="0" bIns="0" rtlCol="0" anchor="ctr"/>
          <a:lstStyle/>
          <a:p>
            <a:pPr marL="0" indent="0">
              <a:buNone/>
            </a:pPr>
            <a:r>
              <a:rPr lang="en-US" sz="1300" b="1" dirty="0">
                <a:solidFill>
                  <a:srgbClr val="1C7293"/>
                </a:solidFill>
                <a:latin typeface="Trebuchet MS" pitchFamily="34" charset="0"/>
                <a:ea typeface="Trebuchet MS" pitchFamily="34" charset="-122"/>
                <a:cs typeface="Trebuchet MS" pitchFamily="34" charset="-120"/>
              </a:rPr>
              <a:t>Methodology</a:t>
            </a:r>
            <a:endParaRPr lang="en-US" sz="1300" dirty="0"/>
          </a:p>
        </p:txBody>
      </p:sp>
      <p:sp>
        <p:nvSpPr>
          <p:cNvPr id="6" name="Text 4">
            <a:extLst>
              <a:ext uri="{FF2B5EF4-FFF2-40B4-BE49-F238E27FC236}">
                <a16:creationId xmlns:a16="http://schemas.microsoft.com/office/drawing/2014/main" id="{23398C3F-637C-2E97-84E8-D4005B1B0D85}"/>
              </a:ext>
            </a:extLst>
          </p:cNvPr>
          <p:cNvSpPr/>
          <p:nvPr/>
        </p:nvSpPr>
        <p:spPr>
          <a:xfrm>
            <a:off x="365760" y="1373525"/>
            <a:ext cx="3244132" cy="2942107"/>
          </a:xfrm>
          <a:prstGeom prst="rect">
            <a:avLst/>
          </a:prstGeom>
          <a:noFill/>
          <a:ln/>
        </p:spPr>
        <p:txBody>
          <a:bodyPr wrap="square" rtlCol="0" anchor="ctr"/>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Aggregated data by BOROUGH × HOUR: total incident count + avg response time per cell</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Features normalized (z-score) before clustering</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Elbow plot tested k = 2–10; k = 5 selected (one natural group per borough)</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n_init = 10 with fixed random seed for stable results</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Cluster profiles: avg incidents, avg response time, and peak hour per cluster</a:t>
            </a:r>
            <a:endParaRPr lang="en-US" sz="1250" dirty="0"/>
          </a:p>
        </p:txBody>
      </p:sp>
      <p:pic>
        <p:nvPicPr>
          <p:cNvPr id="10" name="Picture 9">
            <a:extLst>
              <a:ext uri="{FF2B5EF4-FFF2-40B4-BE49-F238E27FC236}">
                <a16:creationId xmlns:a16="http://schemas.microsoft.com/office/drawing/2014/main" id="{006CA035-1BFA-6D0B-C94E-9FCBD64C1443}"/>
              </a:ext>
            </a:extLst>
          </p:cNvPr>
          <p:cNvPicPr>
            <a:picLocks noChangeAspect="1"/>
          </p:cNvPicPr>
          <p:nvPr/>
        </p:nvPicPr>
        <p:blipFill>
          <a:blip r:embed="rId3"/>
          <a:stretch>
            <a:fillRect/>
          </a:stretch>
        </p:blipFill>
        <p:spPr>
          <a:xfrm>
            <a:off x="3999506" y="1373525"/>
            <a:ext cx="4873230" cy="2408500"/>
          </a:xfrm>
          <a:prstGeom prst="rect">
            <a:avLst/>
          </a:prstGeom>
          <a:solidFill>
            <a:srgbClr val="FFFFFF"/>
          </a:solidFill>
          <a:ln/>
          <a:effectLst>
            <a:outerShdw blurRad="101600" dist="38100" dir="8100000" algn="bl" rotWithShape="0">
              <a:srgbClr val="000000">
                <a:alpha val="12000"/>
              </a:srgbClr>
            </a:outerShdw>
          </a:effectLst>
        </p:spPr>
      </p:pic>
    </p:spTree>
    <p:extLst>
      <p:ext uri="{BB962C8B-B14F-4D97-AF65-F5344CB8AC3E}">
        <p14:creationId xmlns:p14="http://schemas.microsoft.com/office/powerpoint/2010/main" val="1091613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Model 2 — K-Means Clustering</a:t>
            </a:r>
            <a:endParaRPr lang="en-US" sz="2400" dirty="0"/>
          </a:p>
        </p:txBody>
      </p:sp>
      <p:sp>
        <p:nvSpPr>
          <p:cNvPr id="7" name="Shape 5"/>
          <p:cNvSpPr/>
          <p:nvPr/>
        </p:nvSpPr>
        <p:spPr>
          <a:xfrm>
            <a:off x="200770" y="822960"/>
            <a:ext cx="3536343" cy="3689405"/>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383650" y="960120"/>
            <a:ext cx="3794760" cy="320040"/>
          </a:xfrm>
          <a:prstGeom prst="rect">
            <a:avLst/>
          </a:prstGeom>
          <a:noFill/>
          <a:ln/>
        </p:spPr>
        <p:txBody>
          <a:bodyPr wrap="square" lIns="0" tIns="0" rIns="0" bIns="0" rtlCol="0" anchor="ctr"/>
          <a:lstStyle/>
          <a:p>
            <a:pPr marL="0" indent="0">
              <a:buNone/>
            </a:pPr>
            <a:r>
              <a:rPr lang="en-US" sz="1300" b="1" dirty="0">
                <a:solidFill>
                  <a:srgbClr val="C0392B"/>
                </a:solidFill>
                <a:latin typeface="Trebuchet MS" pitchFamily="34" charset="0"/>
                <a:ea typeface="Trebuchet MS" pitchFamily="34" charset="-122"/>
                <a:cs typeface="Trebuchet MS" pitchFamily="34" charset="-120"/>
              </a:rPr>
              <a:t>Findings</a:t>
            </a:r>
            <a:endParaRPr lang="en-US" sz="1300" dirty="0"/>
          </a:p>
        </p:txBody>
      </p:sp>
      <p:sp>
        <p:nvSpPr>
          <p:cNvPr id="9" name="Text 7"/>
          <p:cNvSpPr/>
          <p:nvPr/>
        </p:nvSpPr>
        <p:spPr>
          <a:xfrm>
            <a:off x="200770" y="1351722"/>
            <a:ext cx="3452854" cy="2948940"/>
          </a:xfrm>
          <a:prstGeom prst="rect">
            <a:avLst/>
          </a:prstGeom>
          <a:noFill/>
          <a:ln/>
        </p:spPr>
        <p:txBody>
          <a:bodyPr wrap="square" rtlCol="0" anchor="ctr"/>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Clusters aligned primarily by borough — each borough formed a distinct demand pattern</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Time of day had a relatively small impact on which cluster a data point fell into</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Bronx cluster: highest avg response time, moderate incident volume</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Manhattan cluster: very high incident volume but competitive response times</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Staten Island cluster: lowest volume and best response times across the day</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Result suggests targeting Bronx-specific resource increases would have the most impact</a:t>
            </a:r>
            <a:endParaRPr lang="en-US" sz="1250" dirty="0"/>
          </a:p>
        </p:txBody>
      </p:sp>
      <p:pic>
        <p:nvPicPr>
          <p:cNvPr id="11" name="Picture 10">
            <a:extLst>
              <a:ext uri="{FF2B5EF4-FFF2-40B4-BE49-F238E27FC236}">
                <a16:creationId xmlns:a16="http://schemas.microsoft.com/office/drawing/2014/main" id="{EF458D0E-8F21-8701-D7D8-1324BB1355D8}"/>
              </a:ext>
            </a:extLst>
          </p:cNvPr>
          <p:cNvPicPr>
            <a:picLocks noChangeAspect="1"/>
          </p:cNvPicPr>
          <p:nvPr/>
        </p:nvPicPr>
        <p:blipFill>
          <a:blip r:embed="rId3"/>
          <a:stretch>
            <a:fillRect/>
          </a:stretch>
        </p:blipFill>
        <p:spPr>
          <a:xfrm>
            <a:off x="3919993" y="1081377"/>
            <a:ext cx="4977409" cy="3172570"/>
          </a:xfrm>
          <a:prstGeom prst="rect">
            <a:avLst/>
          </a:prstGeom>
          <a:solidFill>
            <a:srgbClr val="FFFFFF"/>
          </a:solidFill>
          <a:ln/>
          <a:effectLst>
            <a:outerShdw blurRad="101600" dist="38100" dir="8100000" algn="bl" rotWithShape="0">
              <a:srgbClr val="000000">
                <a:alpha val="12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Model 3 — Kernel Density Estimation (KDE)</a:t>
            </a:r>
            <a:endParaRPr lang="en-US" sz="2400" dirty="0"/>
          </a:p>
        </p:txBody>
      </p:sp>
      <p:sp>
        <p:nvSpPr>
          <p:cNvPr id="7" name="Shape 5"/>
          <p:cNvSpPr/>
          <p:nvPr/>
        </p:nvSpPr>
        <p:spPr>
          <a:xfrm>
            <a:off x="268356" y="841248"/>
            <a:ext cx="8647044" cy="699711"/>
          </a:xfrm>
          <a:prstGeom prst="rect">
            <a:avLst/>
          </a:prstGeom>
          <a:solidFill>
            <a:srgbClr val="C0392B"/>
          </a:solid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451236" y="886968"/>
            <a:ext cx="36576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Method</a:t>
            </a:r>
            <a:endParaRPr lang="en-US" sz="1200" dirty="0"/>
          </a:p>
        </p:txBody>
      </p:sp>
      <p:sp>
        <p:nvSpPr>
          <p:cNvPr id="9" name="Text 7"/>
          <p:cNvSpPr/>
          <p:nvPr/>
        </p:nvSpPr>
        <p:spPr>
          <a:xfrm>
            <a:off x="451235" y="1069848"/>
            <a:ext cx="6078773" cy="457200"/>
          </a:xfrm>
          <a:prstGeom prst="rect">
            <a:avLst/>
          </a:prstGeom>
          <a:noFill/>
          <a:ln/>
        </p:spPr>
        <p:txBody>
          <a:bodyPr wrap="square" lIns="0" tIns="0" rIns="0" bIns="0" rtlCol="0" anchor="ctr"/>
          <a:lstStyle/>
          <a:p>
            <a:pPr marL="0" indent="0">
              <a:buNone/>
            </a:pPr>
            <a:r>
              <a:rPr lang="en-US" sz="1300" b="1" dirty="0">
                <a:solidFill>
                  <a:srgbClr val="FFFFFF"/>
                </a:solidFill>
              </a:rPr>
              <a:t>Non-parametric KDE — no distributional assumptions</a:t>
            </a:r>
            <a:endParaRPr lang="en-US" sz="1300" dirty="0"/>
          </a:p>
        </p:txBody>
      </p:sp>
      <p:sp>
        <p:nvSpPr>
          <p:cNvPr id="13" name="Shape 11"/>
          <p:cNvSpPr/>
          <p:nvPr/>
        </p:nvSpPr>
        <p:spPr>
          <a:xfrm>
            <a:off x="268355" y="1647912"/>
            <a:ext cx="8647043" cy="3031041"/>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4" name="Text 12"/>
          <p:cNvSpPr/>
          <p:nvPr/>
        </p:nvSpPr>
        <p:spPr>
          <a:xfrm>
            <a:off x="451236" y="1790837"/>
            <a:ext cx="3657600" cy="320040"/>
          </a:xfrm>
          <a:prstGeom prst="rect">
            <a:avLst/>
          </a:prstGeom>
          <a:noFill/>
          <a:ln/>
        </p:spPr>
        <p:txBody>
          <a:bodyPr wrap="square" lIns="0" tIns="0" rIns="0" bIns="0" rtlCol="0" anchor="ctr"/>
          <a:lstStyle/>
          <a:p>
            <a:pPr marL="0" indent="0">
              <a:buNone/>
            </a:pPr>
            <a:r>
              <a:rPr lang="en-US" sz="1300" b="1" dirty="0">
                <a:solidFill>
                  <a:srgbClr val="C0392B"/>
                </a:solidFill>
                <a:latin typeface="Trebuchet MS" pitchFamily="34" charset="0"/>
                <a:ea typeface="Trebuchet MS" pitchFamily="34" charset="-122"/>
                <a:cs typeface="Trebuchet MS" pitchFamily="34" charset="-120"/>
              </a:rPr>
              <a:t>Heatmap by Borough &amp; Hour</a:t>
            </a:r>
            <a:endParaRPr lang="en-US" sz="1300" dirty="0"/>
          </a:p>
        </p:txBody>
      </p:sp>
      <p:sp>
        <p:nvSpPr>
          <p:cNvPr id="15" name="Text 13"/>
          <p:cNvSpPr/>
          <p:nvPr/>
        </p:nvSpPr>
        <p:spPr>
          <a:xfrm>
            <a:off x="365760" y="2063165"/>
            <a:ext cx="3309342" cy="2419383"/>
          </a:xfrm>
          <a:prstGeom prst="rect">
            <a:avLst/>
          </a:prstGeom>
          <a:noFill/>
          <a:ln/>
        </p:spPr>
        <p:txBody>
          <a:bodyPr wrap="square" rtlCol="0" anchor="ctr"/>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Brooklyn and the Bronx have the highest concentration of high-severity incidents</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Peak concentration in midday to evening hours</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Manhattan shows elevated severity volumes but shorter tail — faster resolution</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Staten Island shows lowest high-severity density across the day</a:t>
            </a:r>
            <a:endParaRPr lang="en-US" sz="1250" dirty="0"/>
          </a:p>
        </p:txBody>
      </p:sp>
      <p:pic>
        <p:nvPicPr>
          <p:cNvPr id="17" name="Picture 16">
            <a:extLst>
              <a:ext uri="{FF2B5EF4-FFF2-40B4-BE49-F238E27FC236}">
                <a16:creationId xmlns:a16="http://schemas.microsoft.com/office/drawing/2014/main" id="{DF3F2369-7049-5414-9349-E49DAF956A76}"/>
              </a:ext>
            </a:extLst>
          </p:cNvPr>
          <p:cNvPicPr>
            <a:picLocks noChangeAspect="1"/>
          </p:cNvPicPr>
          <p:nvPr/>
        </p:nvPicPr>
        <p:blipFill>
          <a:blip r:embed="rId3"/>
          <a:stretch>
            <a:fillRect/>
          </a:stretch>
        </p:blipFill>
        <p:spPr>
          <a:xfrm>
            <a:off x="3675102" y="2063165"/>
            <a:ext cx="5128848" cy="23207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B"/>
        </a:solidFill>
        <a:effectLst/>
      </p:bgPr>
    </p:bg>
    <p:spTree>
      <p:nvGrpSpPr>
        <p:cNvPr id="1" name="">
          <a:extLst>
            <a:ext uri="{FF2B5EF4-FFF2-40B4-BE49-F238E27FC236}">
              <a16:creationId xmlns:a16="http://schemas.microsoft.com/office/drawing/2014/main" id="{FE8E37ED-86EE-5052-0078-37F0752C47E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FA0C014-DD5A-FF6A-4354-5550A3FB2CFF}"/>
              </a:ext>
            </a:extLst>
          </p:cNvPr>
          <p:cNvSpPr/>
          <p:nvPr/>
        </p:nvSpPr>
        <p:spPr>
          <a:xfrm>
            <a:off x="0" y="0"/>
            <a:ext cx="9144000" cy="685800"/>
          </a:xfrm>
          <a:prstGeom prst="rect">
            <a:avLst/>
          </a:prstGeom>
          <a:solidFill>
            <a:srgbClr val="0A1628"/>
          </a:solidFill>
          <a:ln/>
        </p:spPr>
        <p:txBody>
          <a:bodyPr/>
          <a:lstStyle/>
          <a:p>
            <a:endParaRPr lang="en-US"/>
          </a:p>
        </p:txBody>
      </p:sp>
      <p:sp>
        <p:nvSpPr>
          <p:cNvPr id="3" name="Text 1">
            <a:extLst>
              <a:ext uri="{FF2B5EF4-FFF2-40B4-BE49-F238E27FC236}">
                <a16:creationId xmlns:a16="http://schemas.microsoft.com/office/drawing/2014/main" id="{82AEF298-74E8-2A72-2081-07566FEDC27E}"/>
              </a:ext>
            </a:extLst>
          </p:cNvPr>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Model 3 — Kernel Density Estimation (KDE)</a:t>
            </a:r>
            <a:endParaRPr lang="en-US" sz="2400" dirty="0"/>
          </a:p>
        </p:txBody>
      </p:sp>
      <p:sp>
        <p:nvSpPr>
          <p:cNvPr id="4" name="Shape 2">
            <a:extLst>
              <a:ext uri="{FF2B5EF4-FFF2-40B4-BE49-F238E27FC236}">
                <a16:creationId xmlns:a16="http://schemas.microsoft.com/office/drawing/2014/main" id="{65216475-BFF3-7202-0C08-99FB5A9C6836}"/>
              </a:ext>
            </a:extLst>
          </p:cNvPr>
          <p:cNvSpPr/>
          <p:nvPr/>
        </p:nvSpPr>
        <p:spPr>
          <a:xfrm>
            <a:off x="320040" y="841248"/>
            <a:ext cx="8503920" cy="914400"/>
          </a:xfrm>
          <a:prstGeom prst="rect">
            <a:avLst/>
          </a:prstGeom>
          <a:solidFill>
            <a:srgbClr val="1C7293"/>
          </a:solidFill>
          <a:ln/>
          <a:effectLst>
            <a:outerShdw blurRad="101600" dist="38100" dir="8100000" algn="bl" rotWithShape="0">
              <a:srgbClr val="000000">
                <a:alpha val="12000"/>
              </a:srgbClr>
            </a:outerShdw>
          </a:effectLst>
        </p:spPr>
        <p:txBody>
          <a:bodyPr/>
          <a:lstStyle/>
          <a:p>
            <a:endParaRPr lang="en-US"/>
          </a:p>
        </p:txBody>
      </p:sp>
      <p:sp>
        <p:nvSpPr>
          <p:cNvPr id="5" name="Text 3">
            <a:extLst>
              <a:ext uri="{FF2B5EF4-FFF2-40B4-BE49-F238E27FC236}">
                <a16:creationId xmlns:a16="http://schemas.microsoft.com/office/drawing/2014/main" id="{AF97D6EB-A578-2CCF-D660-164D69E4D6A9}"/>
              </a:ext>
            </a:extLst>
          </p:cNvPr>
          <p:cNvSpPr/>
          <p:nvPr/>
        </p:nvSpPr>
        <p:spPr>
          <a:xfrm>
            <a:off x="502920" y="886968"/>
            <a:ext cx="36576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Severity Threshold</a:t>
            </a:r>
            <a:endParaRPr lang="en-US" sz="1200" dirty="0"/>
          </a:p>
        </p:txBody>
      </p:sp>
      <p:sp>
        <p:nvSpPr>
          <p:cNvPr id="6" name="Text 4">
            <a:extLst>
              <a:ext uri="{FF2B5EF4-FFF2-40B4-BE49-F238E27FC236}">
                <a16:creationId xmlns:a16="http://schemas.microsoft.com/office/drawing/2014/main" id="{F14F4151-5C4F-B542-D33C-F139CDAD1FB3}"/>
              </a:ext>
            </a:extLst>
          </p:cNvPr>
          <p:cNvSpPr/>
          <p:nvPr/>
        </p:nvSpPr>
        <p:spPr>
          <a:xfrm>
            <a:off x="502920" y="1170432"/>
            <a:ext cx="3657600" cy="457200"/>
          </a:xfrm>
          <a:prstGeom prst="rect">
            <a:avLst/>
          </a:prstGeom>
          <a:noFill/>
          <a:ln/>
        </p:spPr>
        <p:txBody>
          <a:bodyPr wrap="square" lIns="0" tIns="0" rIns="0" bIns="0" rtlCol="0" anchor="ctr"/>
          <a:lstStyle/>
          <a:p>
            <a:pPr marL="0" indent="0">
              <a:buNone/>
            </a:pPr>
            <a:r>
              <a:rPr lang="en-US" sz="1500" b="1" dirty="0">
                <a:solidFill>
                  <a:srgbClr val="FFFFFF"/>
                </a:solidFill>
              </a:rPr>
              <a:t>10 minutes  (industry standard)</a:t>
            </a:r>
            <a:endParaRPr lang="en-US" sz="1500" dirty="0"/>
          </a:p>
        </p:txBody>
      </p:sp>
      <p:sp>
        <p:nvSpPr>
          <p:cNvPr id="10" name="Shape 8">
            <a:extLst>
              <a:ext uri="{FF2B5EF4-FFF2-40B4-BE49-F238E27FC236}">
                <a16:creationId xmlns:a16="http://schemas.microsoft.com/office/drawing/2014/main" id="{CF887D3C-8763-31EE-F6E3-93E2D12F88E8}"/>
              </a:ext>
            </a:extLst>
          </p:cNvPr>
          <p:cNvSpPr/>
          <p:nvPr/>
        </p:nvSpPr>
        <p:spPr>
          <a:xfrm>
            <a:off x="320040" y="1920240"/>
            <a:ext cx="3657600" cy="2834640"/>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1" name="Text 9">
            <a:extLst>
              <a:ext uri="{FF2B5EF4-FFF2-40B4-BE49-F238E27FC236}">
                <a16:creationId xmlns:a16="http://schemas.microsoft.com/office/drawing/2014/main" id="{DC17B907-D00A-8A58-3CCF-EC3EB9523907}"/>
              </a:ext>
            </a:extLst>
          </p:cNvPr>
          <p:cNvSpPr/>
          <p:nvPr/>
        </p:nvSpPr>
        <p:spPr>
          <a:xfrm>
            <a:off x="502920" y="2057400"/>
            <a:ext cx="3657600" cy="320040"/>
          </a:xfrm>
          <a:prstGeom prst="rect">
            <a:avLst/>
          </a:prstGeom>
          <a:noFill/>
          <a:ln/>
        </p:spPr>
        <p:txBody>
          <a:bodyPr wrap="square" lIns="0" tIns="0" rIns="0" bIns="0" rtlCol="0" anchor="ctr"/>
          <a:lstStyle/>
          <a:p>
            <a:pPr marL="0" indent="0">
              <a:buNone/>
            </a:pPr>
            <a:r>
              <a:rPr lang="en-US" sz="1300" b="1" dirty="0">
                <a:solidFill>
                  <a:srgbClr val="1C7293"/>
                </a:solidFill>
                <a:latin typeface="Trebuchet MS" pitchFamily="34" charset="0"/>
                <a:ea typeface="Trebuchet MS" pitchFamily="34" charset="-122"/>
                <a:cs typeface="Trebuchet MS" pitchFamily="34" charset="-120"/>
              </a:rPr>
              <a:t>KDE Curve Findings</a:t>
            </a:r>
            <a:endParaRPr lang="en-US" sz="1300" dirty="0"/>
          </a:p>
        </p:txBody>
      </p:sp>
      <p:sp>
        <p:nvSpPr>
          <p:cNvPr id="12" name="Text 10">
            <a:extLst>
              <a:ext uri="{FF2B5EF4-FFF2-40B4-BE49-F238E27FC236}">
                <a16:creationId xmlns:a16="http://schemas.microsoft.com/office/drawing/2014/main" id="{F00CC090-FF61-B03F-CA61-D2BA8BC57811}"/>
              </a:ext>
            </a:extLst>
          </p:cNvPr>
          <p:cNvSpPr/>
          <p:nvPr/>
        </p:nvSpPr>
        <p:spPr>
          <a:xfrm>
            <a:off x="320040" y="2462917"/>
            <a:ext cx="3657600" cy="2148840"/>
          </a:xfrm>
          <a:prstGeom prst="rect">
            <a:avLst/>
          </a:prstGeom>
          <a:noFill/>
          <a:ln/>
        </p:spPr>
        <p:txBody>
          <a:bodyPr wrap="square" rtlCol="0" anchor="ctr"/>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Two groups: Normal (&lt;10 min) and High Severity (≥10 min)</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High severity curve spikes sharply at the 10-minute threshold</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Considerable tail extending to ~20 minutes for high-severity incidents</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Distribution shape confirms skewness seen in EDA — most incidents are resolved quickly</a:t>
            </a:r>
            <a:endParaRPr lang="en-US" sz="1250" dirty="0"/>
          </a:p>
        </p:txBody>
      </p:sp>
      <p:pic>
        <p:nvPicPr>
          <p:cNvPr id="16" name="Picture 15">
            <a:extLst>
              <a:ext uri="{FF2B5EF4-FFF2-40B4-BE49-F238E27FC236}">
                <a16:creationId xmlns:a16="http://schemas.microsoft.com/office/drawing/2014/main" id="{D9FEF536-7383-652A-6C61-84C31799E4A1}"/>
              </a:ext>
            </a:extLst>
          </p:cNvPr>
          <p:cNvPicPr>
            <a:picLocks noChangeAspect="1"/>
          </p:cNvPicPr>
          <p:nvPr/>
        </p:nvPicPr>
        <p:blipFill>
          <a:blip r:embed="rId3"/>
          <a:stretch>
            <a:fillRect/>
          </a:stretch>
        </p:blipFill>
        <p:spPr>
          <a:xfrm>
            <a:off x="4253948" y="1920240"/>
            <a:ext cx="4570012" cy="2258345"/>
          </a:xfrm>
          <a:prstGeom prst="rect">
            <a:avLst/>
          </a:prstGeom>
          <a:solidFill>
            <a:srgbClr val="FFFFFF"/>
          </a:solidFill>
          <a:ln/>
          <a:effectLst>
            <a:outerShdw blurRad="101600" dist="38100" dir="8100000" algn="bl" rotWithShape="0">
              <a:srgbClr val="000000">
                <a:alpha val="12000"/>
              </a:srgbClr>
            </a:outerShdw>
          </a:effectLst>
        </p:spPr>
      </p:pic>
    </p:spTree>
    <p:extLst>
      <p:ext uri="{BB962C8B-B14F-4D97-AF65-F5344CB8AC3E}">
        <p14:creationId xmlns:p14="http://schemas.microsoft.com/office/powerpoint/2010/main" val="609204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A1628"/>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Findings Summary</a:t>
            </a:r>
            <a:endParaRPr lang="en-US" sz="2600" dirty="0"/>
          </a:p>
        </p:txBody>
      </p:sp>
      <p:sp>
        <p:nvSpPr>
          <p:cNvPr id="4" name="Shape 2"/>
          <p:cNvSpPr/>
          <p:nvPr/>
        </p:nvSpPr>
        <p:spPr>
          <a:xfrm>
            <a:off x="320040" y="822960"/>
            <a:ext cx="8503920" cy="7132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5" name="Shape 3"/>
          <p:cNvSpPr/>
          <p:nvPr/>
        </p:nvSpPr>
        <p:spPr>
          <a:xfrm>
            <a:off x="320040" y="822960"/>
            <a:ext cx="73152" cy="713232"/>
          </a:xfrm>
          <a:prstGeom prst="rect">
            <a:avLst/>
          </a:prstGeom>
          <a:solidFill>
            <a:srgbClr val="1C7293"/>
          </a:solidFill>
          <a:ln/>
        </p:spPr>
        <p:txBody>
          <a:bodyPr/>
          <a:lstStyle/>
          <a:p>
            <a:endParaRPr lang="en-US"/>
          </a:p>
        </p:txBody>
      </p:sp>
      <p:sp>
        <p:nvSpPr>
          <p:cNvPr id="6" name="Text 4"/>
          <p:cNvSpPr/>
          <p:nvPr/>
        </p:nvSpPr>
        <p:spPr>
          <a:xfrm>
            <a:off x="502920" y="850392"/>
            <a:ext cx="1645920" cy="320040"/>
          </a:xfrm>
          <a:prstGeom prst="rect">
            <a:avLst/>
          </a:prstGeom>
          <a:noFill/>
          <a:ln/>
        </p:spPr>
        <p:txBody>
          <a:bodyPr wrap="square" lIns="0" tIns="0" rIns="0" bIns="0" rtlCol="0" anchor="ctr"/>
          <a:lstStyle/>
          <a:p>
            <a:pPr marL="0" indent="0">
              <a:buNone/>
            </a:pPr>
            <a:r>
              <a:rPr lang="en-US" sz="1200" b="1" dirty="0">
                <a:solidFill>
                  <a:srgbClr val="1C7293"/>
                </a:solidFill>
                <a:latin typeface="Trebuchet MS" pitchFamily="34" charset="0"/>
                <a:ea typeface="Trebuchet MS" pitchFamily="34" charset="-122"/>
                <a:cs typeface="Trebuchet MS" pitchFamily="34" charset="-120"/>
              </a:rPr>
              <a:t>Call Volume</a:t>
            </a:r>
            <a:endParaRPr lang="en-US" sz="1200" dirty="0"/>
          </a:p>
        </p:txBody>
      </p:sp>
      <p:sp>
        <p:nvSpPr>
          <p:cNvPr id="7" name="Text 5"/>
          <p:cNvSpPr/>
          <p:nvPr/>
        </p:nvSpPr>
        <p:spPr>
          <a:xfrm>
            <a:off x="502920" y="1152144"/>
            <a:ext cx="8229600" cy="34747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Brooklyn and Manhattan lead in total incident volume. Peak demand is midday; lowest volumes occur 2–5 AM and on weekends.</a:t>
            </a:r>
            <a:endParaRPr lang="en-US" sz="1150" dirty="0"/>
          </a:p>
        </p:txBody>
      </p:sp>
      <p:sp>
        <p:nvSpPr>
          <p:cNvPr id="8" name="Shape 6"/>
          <p:cNvSpPr/>
          <p:nvPr/>
        </p:nvSpPr>
        <p:spPr>
          <a:xfrm>
            <a:off x="320040" y="1627632"/>
            <a:ext cx="8503920" cy="7132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9" name="Shape 7"/>
          <p:cNvSpPr/>
          <p:nvPr/>
        </p:nvSpPr>
        <p:spPr>
          <a:xfrm>
            <a:off x="320040" y="1627632"/>
            <a:ext cx="73152" cy="713232"/>
          </a:xfrm>
          <a:prstGeom prst="rect">
            <a:avLst/>
          </a:prstGeom>
          <a:solidFill>
            <a:srgbClr val="C0392B"/>
          </a:solidFill>
          <a:ln/>
        </p:spPr>
        <p:txBody>
          <a:bodyPr/>
          <a:lstStyle/>
          <a:p>
            <a:endParaRPr lang="en-US"/>
          </a:p>
        </p:txBody>
      </p:sp>
      <p:sp>
        <p:nvSpPr>
          <p:cNvPr id="10" name="Text 8"/>
          <p:cNvSpPr/>
          <p:nvPr/>
        </p:nvSpPr>
        <p:spPr>
          <a:xfrm>
            <a:off x="502920" y="1655064"/>
            <a:ext cx="1645920" cy="320040"/>
          </a:xfrm>
          <a:prstGeom prst="rect">
            <a:avLst/>
          </a:prstGeom>
          <a:noFill/>
          <a:ln/>
        </p:spPr>
        <p:txBody>
          <a:bodyPr wrap="square" lIns="0" tIns="0" rIns="0" bIns="0" rtlCol="0" anchor="ctr"/>
          <a:lstStyle/>
          <a:p>
            <a:pPr marL="0" indent="0">
              <a:buNone/>
            </a:pPr>
            <a:r>
              <a:rPr lang="en-US" sz="1200" b="1" dirty="0">
                <a:solidFill>
                  <a:srgbClr val="C0392B"/>
                </a:solidFill>
                <a:latin typeface="Trebuchet MS" pitchFamily="34" charset="0"/>
                <a:ea typeface="Trebuchet MS" pitchFamily="34" charset="-122"/>
                <a:cs typeface="Trebuchet MS" pitchFamily="34" charset="-120"/>
              </a:rPr>
              <a:t>Response Equity</a:t>
            </a:r>
            <a:endParaRPr lang="en-US" sz="1200" dirty="0"/>
          </a:p>
        </p:txBody>
      </p:sp>
      <p:sp>
        <p:nvSpPr>
          <p:cNvPr id="11" name="Text 9"/>
          <p:cNvSpPr/>
          <p:nvPr/>
        </p:nvSpPr>
        <p:spPr>
          <a:xfrm>
            <a:off x="502920" y="1956816"/>
            <a:ext cx="8229600" cy="34747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The Bronx has the slowest median response times and the highest concentration of high-severity incidents — despite not having the highest call volume.</a:t>
            </a:r>
            <a:endParaRPr lang="en-US" sz="1150" dirty="0"/>
          </a:p>
        </p:txBody>
      </p:sp>
      <p:sp>
        <p:nvSpPr>
          <p:cNvPr id="12" name="Shape 10"/>
          <p:cNvSpPr/>
          <p:nvPr/>
        </p:nvSpPr>
        <p:spPr>
          <a:xfrm>
            <a:off x="320040" y="2432304"/>
            <a:ext cx="8503920" cy="7132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3" name="Shape 11"/>
          <p:cNvSpPr/>
          <p:nvPr/>
        </p:nvSpPr>
        <p:spPr>
          <a:xfrm>
            <a:off x="320040" y="2432304"/>
            <a:ext cx="73152" cy="713232"/>
          </a:xfrm>
          <a:prstGeom prst="rect">
            <a:avLst/>
          </a:prstGeom>
          <a:solidFill>
            <a:srgbClr val="E8A020"/>
          </a:solidFill>
          <a:ln/>
        </p:spPr>
        <p:txBody>
          <a:bodyPr/>
          <a:lstStyle/>
          <a:p>
            <a:endParaRPr lang="en-US"/>
          </a:p>
        </p:txBody>
      </p:sp>
      <p:sp>
        <p:nvSpPr>
          <p:cNvPr id="14" name="Text 12"/>
          <p:cNvSpPr/>
          <p:nvPr/>
        </p:nvSpPr>
        <p:spPr>
          <a:xfrm>
            <a:off x="502920" y="2459736"/>
            <a:ext cx="1645920" cy="320040"/>
          </a:xfrm>
          <a:prstGeom prst="rect">
            <a:avLst/>
          </a:prstGeom>
          <a:noFill/>
          <a:ln/>
        </p:spPr>
        <p:txBody>
          <a:bodyPr wrap="square" lIns="0" tIns="0" rIns="0" bIns="0" rtlCol="0" anchor="ctr"/>
          <a:lstStyle/>
          <a:p>
            <a:pPr marL="0" indent="0">
              <a:buNone/>
            </a:pPr>
            <a:r>
              <a:rPr lang="en-US" sz="1200" b="1" dirty="0">
                <a:solidFill>
                  <a:srgbClr val="E8A020"/>
                </a:solidFill>
                <a:latin typeface="Trebuchet MS" pitchFamily="34" charset="0"/>
                <a:ea typeface="Trebuchet MS" pitchFamily="34" charset="-122"/>
                <a:cs typeface="Trebuchet MS" pitchFamily="34" charset="-120"/>
              </a:rPr>
              <a:t>Regression Limits</a:t>
            </a:r>
            <a:endParaRPr lang="en-US" sz="1200" dirty="0"/>
          </a:p>
        </p:txBody>
      </p:sp>
      <p:sp>
        <p:nvSpPr>
          <p:cNvPr id="15" name="Text 13"/>
          <p:cNvSpPr/>
          <p:nvPr/>
        </p:nvSpPr>
        <p:spPr>
          <a:xfrm>
            <a:off x="502920" y="2761488"/>
            <a:ext cx="8229600" cy="34747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Borough, hour, day, and call type explain only ~0.13% of response time variance. Unmeasured factors dominate — unit location, traffic, and crew availability are key missing variables.</a:t>
            </a:r>
            <a:endParaRPr lang="en-US" sz="1150" dirty="0"/>
          </a:p>
        </p:txBody>
      </p:sp>
      <p:sp>
        <p:nvSpPr>
          <p:cNvPr id="16" name="Shape 14"/>
          <p:cNvSpPr/>
          <p:nvPr/>
        </p:nvSpPr>
        <p:spPr>
          <a:xfrm>
            <a:off x="320040" y="3236976"/>
            <a:ext cx="8503920" cy="7132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17" name="Shape 15"/>
          <p:cNvSpPr/>
          <p:nvPr/>
        </p:nvSpPr>
        <p:spPr>
          <a:xfrm>
            <a:off x="320040" y="3236976"/>
            <a:ext cx="73152" cy="713232"/>
          </a:xfrm>
          <a:prstGeom prst="rect">
            <a:avLst/>
          </a:prstGeom>
          <a:solidFill>
            <a:srgbClr val="1C7293"/>
          </a:solidFill>
          <a:ln/>
        </p:spPr>
        <p:txBody>
          <a:bodyPr/>
          <a:lstStyle/>
          <a:p>
            <a:endParaRPr lang="en-US"/>
          </a:p>
        </p:txBody>
      </p:sp>
      <p:sp>
        <p:nvSpPr>
          <p:cNvPr id="18" name="Text 16"/>
          <p:cNvSpPr/>
          <p:nvPr/>
        </p:nvSpPr>
        <p:spPr>
          <a:xfrm>
            <a:off x="502920" y="3264408"/>
            <a:ext cx="1645920" cy="320040"/>
          </a:xfrm>
          <a:prstGeom prst="rect">
            <a:avLst/>
          </a:prstGeom>
          <a:noFill/>
          <a:ln/>
        </p:spPr>
        <p:txBody>
          <a:bodyPr wrap="square" lIns="0" tIns="0" rIns="0" bIns="0" rtlCol="0" anchor="ctr"/>
          <a:lstStyle/>
          <a:p>
            <a:pPr marL="0" indent="0">
              <a:buNone/>
            </a:pPr>
            <a:r>
              <a:rPr lang="en-US" sz="1200" b="1" dirty="0">
                <a:solidFill>
                  <a:srgbClr val="1C7293"/>
                </a:solidFill>
                <a:latin typeface="Trebuchet MS" pitchFamily="34" charset="0"/>
                <a:ea typeface="Trebuchet MS" pitchFamily="34" charset="-122"/>
                <a:cs typeface="Trebuchet MS" pitchFamily="34" charset="-120"/>
              </a:rPr>
              <a:t>Clustering Insight</a:t>
            </a:r>
            <a:endParaRPr lang="en-US" sz="1200" dirty="0"/>
          </a:p>
        </p:txBody>
      </p:sp>
      <p:sp>
        <p:nvSpPr>
          <p:cNvPr id="19" name="Text 17"/>
          <p:cNvSpPr/>
          <p:nvPr/>
        </p:nvSpPr>
        <p:spPr>
          <a:xfrm>
            <a:off x="502920" y="3566160"/>
            <a:ext cx="8229600" cy="34747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K-Means confirmed borough as the dominant demand differentiator. Time-of-day effects were present but secondary. Five natural clusters emerged, aligned with the five boroughs.</a:t>
            </a:r>
            <a:endParaRPr lang="en-US" sz="1150" dirty="0"/>
          </a:p>
        </p:txBody>
      </p:sp>
      <p:sp>
        <p:nvSpPr>
          <p:cNvPr id="20" name="Shape 18"/>
          <p:cNvSpPr/>
          <p:nvPr/>
        </p:nvSpPr>
        <p:spPr>
          <a:xfrm>
            <a:off x="320040" y="4041648"/>
            <a:ext cx="8503920" cy="7132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US"/>
          </a:p>
        </p:txBody>
      </p:sp>
      <p:sp>
        <p:nvSpPr>
          <p:cNvPr id="21" name="Shape 19"/>
          <p:cNvSpPr/>
          <p:nvPr/>
        </p:nvSpPr>
        <p:spPr>
          <a:xfrm>
            <a:off x="320040" y="4041648"/>
            <a:ext cx="73152" cy="713232"/>
          </a:xfrm>
          <a:prstGeom prst="rect">
            <a:avLst/>
          </a:prstGeom>
          <a:solidFill>
            <a:srgbClr val="C0392B"/>
          </a:solidFill>
          <a:ln/>
        </p:spPr>
        <p:txBody>
          <a:bodyPr/>
          <a:lstStyle/>
          <a:p>
            <a:endParaRPr lang="en-US"/>
          </a:p>
        </p:txBody>
      </p:sp>
      <p:sp>
        <p:nvSpPr>
          <p:cNvPr id="22" name="Text 20"/>
          <p:cNvSpPr/>
          <p:nvPr/>
        </p:nvSpPr>
        <p:spPr>
          <a:xfrm>
            <a:off x="502920" y="4069080"/>
            <a:ext cx="1645920" cy="320040"/>
          </a:xfrm>
          <a:prstGeom prst="rect">
            <a:avLst/>
          </a:prstGeom>
          <a:noFill/>
          <a:ln/>
        </p:spPr>
        <p:txBody>
          <a:bodyPr wrap="square" lIns="0" tIns="0" rIns="0" bIns="0" rtlCol="0" anchor="ctr"/>
          <a:lstStyle/>
          <a:p>
            <a:pPr marL="0" indent="0">
              <a:buNone/>
            </a:pPr>
            <a:r>
              <a:rPr lang="en-US" sz="1200" b="1" dirty="0">
                <a:solidFill>
                  <a:srgbClr val="C0392B"/>
                </a:solidFill>
                <a:latin typeface="Trebuchet MS" pitchFamily="34" charset="0"/>
                <a:ea typeface="Trebuchet MS" pitchFamily="34" charset="-122"/>
                <a:cs typeface="Trebuchet MS" pitchFamily="34" charset="-120"/>
              </a:rPr>
              <a:t>Severity Hotspots</a:t>
            </a:r>
            <a:endParaRPr lang="en-US" sz="1200" dirty="0"/>
          </a:p>
        </p:txBody>
      </p:sp>
      <p:sp>
        <p:nvSpPr>
          <p:cNvPr id="23" name="Text 21"/>
          <p:cNvSpPr/>
          <p:nvPr/>
        </p:nvSpPr>
        <p:spPr>
          <a:xfrm>
            <a:off x="502920" y="4370832"/>
            <a:ext cx="8229600" cy="347472"/>
          </a:xfrm>
          <a:prstGeom prst="rect">
            <a:avLst/>
          </a:prstGeom>
          <a:noFill/>
          <a:ln/>
        </p:spPr>
        <p:txBody>
          <a:bodyPr wrap="square" lIns="0" tIns="0" rIns="0" bIns="0" rtlCol="0" anchor="ctr"/>
          <a:lstStyle/>
          <a:p>
            <a:pPr marL="0" indent="0">
              <a:buNone/>
            </a:pPr>
            <a:r>
              <a:rPr lang="en-US" sz="1150" dirty="0">
                <a:solidFill>
                  <a:srgbClr val="1E293B"/>
                </a:solidFill>
                <a:latin typeface="Calibri" pitchFamily="34" charset="0"/>
                <a:ea typeface="Calibri" pitchFamily="34" charset="-122"/>
                <a:cs typeface="Calibri" pitchFamily="34" charset="-120"/>
              </a:rPr>
              <a:t>KDE analysis shows a clear severity spike at 10 minutes. The Bronx and Brooklyn have the highest density of delayed responses during midday–evening hours.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C0392B"/>
          </a:solidFill>
          <a:ln/>
        </p:spPr>
        <p:txBody>
          <a:bodyPr/>
          <a:lstStyle/>
          <a:p>
            <a:endParaRPr lang="en-US"/>
          </a:p>
        </p:txBody>
      </p:sp>
      <p:sp>
        <p:nvSpPr>
          <p:cNvPr id="3" name="Text 1"/>
          <p:cNvSpPr/>
          <p:nvPr/>
        </p:nvSpPr>
        <p:spPr>
          <a:xfrm>
            <a:off x="365760" y="6400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Conclusions &amp; Future Directions</a:t>
            </a:r>
            <a:endParaRPr lang="en-US" sz="2400" dirty="0"/>
          </a:p>
        </p:txBody>
      </p:sp>
      <p:sp>
        <p:nvSpPr>
          <p:cNvPr id="4" name="Shape 2"/>
          <p:cNvSpPr/>
          <p:nvPr/>
        </p:nvSpPr>
        <p:spPr>
          <a:xfrm>
            <a:off x="320040" y="841248"/>
            <a:ext cx="4160520" cy="3657600"/>
          </a:xfrm>
          <a:prstGeom prst="rect">
            <a:avLst/>
          </a:prstGeom>
          <a:solidFill>
            <a:srgbClr val="FFFFFF">
              <a:alpha val="94000"/>
            </a:srgbClr>
          </a:solidFill>
          <a:ln/>
          <a:effectLst>
            <a:outerShdw blurRad="101600" dist="38100" dir="8100000" algn="bl" rotWithShape="0">
              <a:srgbClr val="000000">
                <a:alpha val="12000"/>
              </a:srgbClr>
            </a:outerShdw>
          </a:effectLst>
        </p:spPr>
        <p:txBody>
          <a:bodyPr/>
          <a:lstStyle/>
          <a:p>
            <a:endParaRPr lang="en-US"/>
          </a:p>
        </p:txBody>
      </p:sp>
      <p:sp>
        <p:nvSpPr>
          <p:cNvPr id="5" name="Text 3"/>
          <p:cNvSpPr/>
          <p:nvPr/>
        </p:nvSpPr>
        <p:spPr>
          <a:xfrm>
            <a:off x="502920" y="978408"/>
            <a:ext cx="3794760" cy="347472"/>
          </a:xfrm>
          <a:prstGeom prst="rect">
            <a:avLst/>
          </a:prstGeom>
          <a:noFill/>
          <a:ln/>
        </p:spPr>
        <p:txBody>
          <a:bodyPr wrap="square" lIns="0" tIns="0" rIns="0" bIns="0" rtlCol="0" anchor="ctr"/>
          <a:lstStyle/>
          <a:p>
            <a:pPr marL="0" indent="0">
              <a:buNone/>
            </a:pPr>
            <a:r>
              <a:rPr lang="en-US" sz="1400" b="1" dirty="0">
                <a:solidFill>
                  <a:srgbClr val="E8A020"/>
                </a:solidFill>
                <a:latin typeface="Trebuchet MS" pitchFamily="34" charset="0"/>
                <a:ea typeface="Trebuchet MS" pitchFamily="34" charset="-122"/>
                <a:cs typeface="Trebuchet MS" pitchFamily="34" charset="-120"/>
              </a:rPr>
              <a:t>Conclusions</a:t>
            </a:r>
            <a:endParaRPr lang="en-US" sz="1400" dirty="0"/>
          </a:p>
        </p:txBody>
      </p:sp>
      <p:sp>
        <p:nvSpPr>
          <p:cNvPr id="6" name="Text 4"/>
          <p:cNvSpPr/>
          <p:nvPr/>
        </p:nvSpPr>
        <p:spPr>
          <a:xfrm>
            <a:off x="502920" y="1417320"/>
            <a:ext cx="3794760" cy="2834640"/>
          </a:xfrm>
          <a:prstGeom prst="rect">
            <a:avLst/>
          </a:prstGeom>
          <a:noFill/>
          <a:ln/>
        </p:spPr>
        <p:txBody>
          <a:bodyPr wrap="square" rtlCol="0" anchor="ctr"/>
          <a:lstStyle/>
          <a:p>
            <a:pPr marL="342900" indent="-342900">
              <a:spcAft>
                <a:spcPts val="700"/>
              </a:spcAft>
              <a:buSzPct val="100000"/>
              <a:buChar char="•"/>
            </a:pPr>
            <a:r>
              <a:rPr lang="en-US" sz="1250" dirty="0">
                <a:latin typeface="Calibri" pitchFamily="34" charset="0"/>
                <a:ea typeface="Calibri" pitchFamily="34" charset="-122"/>
                <a:cs typeface="Calibri" pitchFamily="34" charset="-120"/>
              </a:rPr>
              <a:t>EMS response data reveals meaningful borough-level inequities that are statistically significant</a:t>
            </a:r>
            <a:endParaRPr lang="en-US" sz="1250" dirty="0"/>
          </a:p>
          <a:p>
            <a:pPr marL="342900" indent="-342900">
              <a:spcAft>
                <a:spcPts val="700"/>
              </a:spcAft>
              <a:buSzPct val="100000"/>
              <a:buChar char="•"/>
            </a:pPr>
            <a:r>
              <a:rPr lang="en-US" sz="1250" dirty="0">
                <a:latin typeface="Calibri" pitchFamily="34" charset="0"/>
                <a:ea typeface="Calibri" pitchFamily="34" charset="-122"/>
                <a:cs typeface="Calibri" pitchFamily="34" charset="-120"/>
              </a:rPr>
              <a:t>The Bronx — NYC's most economically disadvantaged borough — faces the slowest times, highest severity, and high call volume relative to population</a:t>
            </a:r>
            <a:endParaRPr lang="en-US" sz="1250" dirty="0"/>
          </a:p>
          <a:p>
            <a:pPr marL="342900" indent="-342900">
              <a:spcAft>
                <a:spcPts val="700"/>
              </a:spcAft>
              <a:buSzPct val="100000"/>
              <a:buChar char="•"/>
            </a:pPr>
            <a:r>
              <a:rPr lang="en-US" sz="1250" dirty="0">
                <a:latin typeface="Calibri" pitchFamily="34" charset="0"/>
                <a:ea typeface="Calibri" pitchFamily="34" charset="-122"/>
                <a:cs typeface="Calibri" pitchFamily="34" charset="-120"/>
              </a:rPr>
              <a:t>CAD data alone is insufficient to model response time; the system is complex and requires richer data</a:t>
            </a:r>
            <a:endParaRPr lang="en-US" sz="1250" dirty="0"/>
          </a:p>
          <a:p>
            <a:pPr marL="342900" indent="-342900">
              <a:spcAft>
                <a:spcPts val="700"/>
              </a:spcAft>
              <a:buSzPct val="100000"/>
              <a:buChar char="•"/>
            </a:pPr>
            <a:r>
              <a:rPr lang="en-US" sz="1250" dirty="0">
                <a:latin typeface="Calibri" pitchFamily="34" charset="0"/>
                <a:ea typeface="Calibri" pitchFamily="34" charset="-122"/>
                <a:cs typeface="Calibri" pitchFamily="34" charset="-120"/>
              </a:rPr>
              <a:t>Data-driven analysis of dispatch systems can be a powerful tool for civic leaders seeking systemic improvements</a:t>
            </a:r>
            <a:endParaRPr lang="en-US" sz="1250" dirty="0"/>
          </a:p>
        </p:txBody>
      </p:sp>
      <p:sp>
        <p:nvSpPr>
          <p:cNvPr id="7" name="Shape 5"/>
          <p:cNvSpPr/>
          <p:nvPr/>
        </p:nvSpPr>
        <p:spPr>
          <a:xfrm>
            <a:off x="4663440" y="841248"/>
            <a:ext cx="4160520" cy="3657600"/>
          </a:xfrm>
          <a:prstGeom prst="rect">
            <a:avLst/>
          </a:prstGeom>
          <a:solidFill>
            <a:srgbClr val="FFFFFF">
              <a:alpha val="94000"/>
            </a:srgbClr>
          </a:solidFill>
          <a:ln/>
          <a:effectLst>
            <a:outerShdw blurRad="101600" dist="38100" dir="8100000" algn="bl" rotWithShape="0">
              <a:srgbClr val="000000">
                <a:alpha val="12000"/>
              </a:srgbClr>
            </a:outerShdw>
          </a:effectLst>
        </p:spPr>
        <p:txBody>
          <a:bodyPr/>
          <a:lstStyle/>
          <a:p>
            <a:endParaRPr lang="en-US"/>
          </a:p>
        </p:txBody>
      </p:sp>
      <p:sp>
        <p:nvSpPr>
          <p:cNvPr id="8" name="Text 6"/>
          <p:cNvSpPr/>
          <p:nvPr/>
        </p:nvSpPr>
        <p:spPr>
          <a:xfrm>
            <a:off x="4846320" y="978408"/>
            <a:ext cx="3794760" cy="347472"/>
          </a:xfrm>
          <a:prstGeom prst="rect">
            <a:avLst/>
          </a:prstGeom>
          <a:noFill/>
          <a:ln/>
        </p:spPr>
        <p:txBody>
          <a:bodyPr wrap="square" lIns="0" tIns="0" rIns="0" bIns="0" rtlCol="0" anchor="ctr"/>
          <a:lstStyle/>
          <a:p>
            <a:pPr marL="0" indent="0">
              <a:buNone/>
            </a:pPr>
            <a:r>
              <a:rPr lang="en-US" sz="1400" b="1" dirty="0">
                <a:solidFill>
                  <a:srgbClr val="1C7293"/>
                </a:solidFill>
                <a:latin typeface="Trebuchet MS" pitchFamily="34" charset="0"/>
                <a:ea typeface="Trebuchet MS" pitchFamily="34" charset="-122"/>
                <a:cs typeface="Trebuchet MS" pitchFamily="34" charset="-120"/>
              </a:rPr>
              <a:t>Future Work</a:t>
            </a:r>
            <a:endParaRPr lang="en-US" sz="1400" dirty="0"/>
          </a:p>
        </p:txBody>
      </p:sp>
      <p:sp>
        <p:nvSpPr>
          <p:cNvPr id="9" name="Text 7"/>
          <p:cNvSpPr/>
          <p:nvPr/>
        </p:nvSpPr>
        <p:spPr>
          <a:xfrm>
            <a:off x="4846320" y="1417320"/>
            <a:ext cx="3794760" cy="2834640"/>
          </a:xfrm>
          <a:prstGeom prst="rect">
            <a:avLst/>
          </a:prstGeom>
          <a:noFill/>
          <a:ln/>
        </p:spPr>
        <p:txBody>
          <a:bodyPr wrap="square" rtlCol="0" anchor="ctr"/>
          <a:lstStyle/>
          <a:p>
            <a:pPr marL="342900" indent="-342900">
              <a:spcAft>
                <a:spcPts val="700"/>
              </a:spcAft>
              <a:buSzPct val="100000"/>
              <a:buChar char="•"/>
            </a:pPr>
            <a:r>
              <a:rPr lang="en-US" sz="1250" dirty="0">
                <a:latin typeface="Calibri" pitchFamily="34" charset="0"/>
                <a:ea typeface="Calibri" pitchFamily="34" charset="-122"/>
                <a:cs typeface="Calibri" pitchFamily="34" charset="-120"/>
              </a:rPr>
              <a:t>Integrate unit GPS location at time of dispatch to measure travel distance</a:t>
            </a:r>
            <a:endParaRPr lang="en-US" sz="1250" dirty="0"/>
          </a:p>
          <a:p>
            <a:pPr marL="342900" indent="-342900">
              <a:spcAft>
                <a:spcPts val="700"/>
              </a:spcAft>
              <a:buSzPct val="100000"/>
              <a:buChar char="•"/>
            </a:pPr>
            <a:r>
              <a:rPr lang="en-US" sz="1250" dirty="0">
                <a:latin typeface="Calibri" pitchFamily="34" charset="0"/>
                <a:ea typeface="Calibri" pitchFamily="34" charset="-122"/>
                <a:cs typeface="Calibri" pitchFamily="34" charset="-120"/>
              </a:rPr>
              <a:t>Incorporate real-time traffic data (e.g., NYC DOT API) to account for congestion effects</a:t>
            </a:r>
            <a:endParaRPr lang="en-US" sz="1250" dirty="0"/>
          </a:p>
          <a:p>
            <a:pPr marL="342900" indent="-342900">
              <a:spcAft>
                <a:spcPts val="700"/>
              </a:spcAft>
              <a:buSzPct val="100000"/>
              <a:buChar char="•"/>
            </a:pPr>
            <a:r>
              <a:rPr lang="en-US" sz="1250" dirty="0">
                <a:latin typeface="Calibri" pitchFamily="34" charset="0"/>
                <a:ea typeface="Calibri" pitchFamily="34" charset="-122"/>
                <a:cs typeface="Calibri" pitchFamily="34" charset="-120"/>
              </a:rPr>
              <a:t>Add weather data to assess impact of precipitation and temperature on response times</a:t>
            </a:r>
            <a:endParaRPr lang="en-US" sz="1250" dirty="0"/>
          </a:p>
          <a:p>
            <a:pPr marL="342900" indent="-342900">
              <a:spcAft>
                <a:spcPts val="700"/>
              </a:spcAft>
              <a:buSzPct val="100000"/>
              <a:buChar char="•"/>
            </a:pPr>
            <a:r>
              <a:rPr lang="en-US" sz="1250" dirty="0">
                <a:latin typeface="Calibri" pitchFamily="34" charset="0"/>
                <a:ea typeface="Calibri" pitchFamily="34" charset="-122"/>
                <a:cs typeface="Calibri" pitchFamily="34" charset="-120"/>
              </a:rPr>
              <a:t>Explore gradient boosted tree models (XGBoost) for improved predictive performance</a:t>
            </a:r>
            <a:endParaRPr lang="en-US" sz="1250" dirty="0"/>
          </a:p>
          <a:p>
            <a:pPr marL="342900" indent="-342900">
              <a:spcAft>
                <a:spcPts val="700"/>
              </a:spcAft>
              <a:buSzPct val="100000"/>
              <a:buChar char="•"/>
            </a:pPr>
            <a:r>
              <a:rPr lang="en-US" sz="1250" dirty="0">
                <a:latin typeface="Calibri" pitchFamily="34" charset="0"/>
                <a:ea typeface="Calibri" pitchFamily="34" charset="-122"/>
                <a:cs typeface="Calibri" pitchFamily="34" charset="-120"/>
              </a:rPr>
              <a:t>Expand geographic resolution from borough to ZIP code level with imputed coordinates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392B"/>
          </a:solidFill>
          <a:ln/>
        </p:spPr>
        <p:txBody>
          <a:bodyPr/>
          <a:lstStyle/>
          <a:p>
            <a:endParaRPr lang="en-US"/>
          </a:p>
        </p:txBody>
      </p:sp>
      <p:sp>
        <p:nvSpPr>
          <p:cNvPr id="3" name="Shape 1"/>
          <p:cNvSpPr/>
          <p:nvPr/>
        </p:nvSpPr>
        <p:spPr>
          <a:xfrm>
            <a:off x="5943600" y="-731520"/>
            <a:ext cx="4389120" cy="4389120"/>
          </a:xfrm>
          <a:prstGeom prst="ellipse">
            <a:avLst/>
          </a:prstGeom>
          <a:solidFill>
            <a:srgbClr val="1C7293">
              <a:alpha val="18000"/>
            </a:srgbClr>
          </a:solidFill>
          <a:ln w="12700">
            <a:solidFill>
              <a:srgbClr val="1C7293"/>
            </a:solidFill>
            <a:prstDash val="solid"/>
          </a:ln>
        </p:spPr>
        <p:txBody>
          <a:bodyPr/>
          <a:lstStyle/>
          <a:p>
            <a:endParaRPr lang="en-US"/>
          </a:p>
        </p:txBody>
      </p:sp>
      <p:sp>
        <p:nvSpPr>
          <p:cNvPr id="4" name="Text 2"/>
          <p:cNvSpPr/>
          <p:nvPr/>
        </p:nvSpPr>
        <p:spPr>
          <a:xfrm>
            <a:off x="457200" y="1280160"/>
            <a:ext cx="5486400" cy="914400"/>
          </a:xfrm>
          <a:prstGeom prst="rect">
            <a:avLst/>
          </a:prstGeom>
          <a:noFill/>
          <a:ln/>
        </p:spPr>
        <p:txBody>
          <a:bodyPr wrap="square"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Thank You</a:t>
            </a:r>
            <a:endParaRPr lang="en-US" sz="5200" dirty="0"/>
          </a:p>
        </p:txBody>
      </p:sp>
      <p:sp>
        <p:nvSpPr>
          <p:cNvPr id="5" name="Text 3"/>
          <p:cNvSpPr/>
          <p:nvPr/>
        </p:nvSpPr>
        <p:spPr>
          <a:xfrm>
            <a:off x="457200" y="2240280"/>
            <a:ext cx="5486400" cy="502920"/>
          </a:xfrm>
          <a:prstGeom prst="rect">
            <a:avLst/>
          </a:prstGeom>
          <a:noFill/>
          <a:ln/>
        </p:spPr>
        <p:txBody>
          <a:bodyPr wrap="square" rtlCol="0" anchor="ctr"/>
          <a:lstStyle/>
          <a:p>
            <a:pPr marL="0" indent="0">
              <a:buNone/>
            </a:pPr>
            <a:r>
              <a:rPr lang="en-US" sz="2200" dirty="0">
                <a:solidFill>
                  <a:srgbClr val="D6E8F5"/>
                </a:solidFill>
                <a:latin typeface="Calibri" pitchFamily="34" charset="0"/>
                <a:ea typeface="Calibri" pitchFamily="34" charset="-122"/>
                <a:cs typeface="Calibri" pitchFamily="34" charset="-120"/>
              </a:rPr>
              <a:t>Questions &amp; Discussion</a:t>
            </a:r>
            <a:endParaRPr lang="en-US" sz="2200" dirty="0"/>
          </a:p>
        </p:txBody>
      </p:sp>
      <p:sp>
        <p:nvSpPr>
          <p:cNvPr id="6" name="Shape 4"/>
          <p:cNvSpPr/>
          <p:nvPr/>
        </p:nvSpPr>
        <p:spPr>
          <a:xfrm>
            <a:off x="457200" y="2971800"/>
            <a:ext cx="5029200" cy="36576"/>
          </a:xfrm>
          <a:prstGeom prst="rect">
            <a:avLst/>
          </a:prstGeom>
          <a:solidFill>
            <a:srgbClr val="1C7293"/>
          </a:solidFill>
          <a:ln/>
        </p:spPr>
        <p:txBody>
          <a:bodyPr/>
          <a:lstStyle/>
          <a:p>
            <a:endParaRPr lang="en-US"/>
          </a:p>
        </p:txBody>
      </p:sp>
      <p:sp>
        <p:nvSpPr>
          <p:cNvPr id="7" name="Text 5"/>
          <p:cNvSpPr/>
          <p:nvPr/>
        </p:nvSpPr>
        <p:spPr>
          <a:xfrm>
            <a:off x="457200" y="3127248"/>
            <a:ext cx="6858000" cy="292608"/>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Jeff Hackmeister  ·  ALY 6140 Capstone  ·  Northeastern University</a:t>
            </a:r>
            <a:endParaRPr lang="en-US" sz="1200" dirty="0"/>
          </a:p>
        </p:txBody>
      </p:sp>
      <p:sp>
        <p:nvSpPr>
          <p:cNvPr id="8" name="Text 6"/>
          <p:cNvSpPr/>
          <p:nvPr/>
        </p:nvSpPr>
        <p:spPr>
          <a:xfrm>
            <a:off x="457200" y="3520440"/>
            <a:ext cx="8229600" cy="59436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Data: NYC Open Data — EMS Incident Dispatch Data (2023–2025)</a:t>
            </a:r>
            <a:endParaRPr lang="en-US" sz="1050" dirty="0"/>
          </a:p>
          <a:p>
            <a:pPr marL="0" indent="0">
              <a:buNone/>
            </a:pPr>
            <a:r>
              <a:rPr lang="en-US" sz="1050" dirty="0">
                <a:solidFill>
                  <a:srgbClr val="64748B"/>
                </a:solidFill>
                <a:latin typeface="Calibri" pitchFamily="34" charset="0"/>
                <a:ea typeface="Calibri" pitchFamily="34" charset="-122"/>
                <a:cs typeface="Calibri" pitchFamily="34" charset="-120"/>
              </a:rPr>
              <a:t>https://data.cityofnewyork.us/Public-Safety/EMS-Incident-Dispatch-Data/76xm-jjuj</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3895</Words>
  <Application>Microsoft Office PowerPoint</Application>
  <PresentationFormat>On-screen Show (16:9)</PresentationFormat>
  <Paragraphs>282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NYC EMS Incident Dispatch Analysis</dc:title>
  <dc:subject>PptxGenJS Presentation</dc:subject>
  <dc:creator>Jeff Hackmeister</dc:creator>
  <cp:lastModifiedBy>Jeff Hackmeister</cp:lastModifiedBy>
  <cp:revision>1</cp:revision>
  <dcterms:created xsi:type="dcterms:W3CDTF">2026-05-16T00:56:34Z</dcterms:created>
  <dcterms:modified xsi:type="dcterms:W3CDTF">2026-05-16T01:35:45Z</dcterms:modified>
</cp:coreProperties>
</file>